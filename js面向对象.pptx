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8" r:id="rId5"/>
    <p:sldId id="264" r:id="rId6"/>
    <p:sldId id="265" r:id="rId7"/>
    <p:sldId id="268" r:id="rId8"/>
    <p:sldId id="259" r:id="rId9"/>
    <p:sldId id="266" r:id="rId10"/>
    <p:sldId id="298" r:id="rId11"/>
    <p:sldId id="260" r:id="rId12"/>
    <p:sldId id="267" r:id="rId13"/>
    <p:sldId id="287" r:id="rId14"/>
    <p:sldId id="299" r:id="rId15"/>
    <p:sldId id="261" r:id="rId16"/>
    <p:sldId id="277" r:id="rId17"/>
    <p:sldId id="279" r:id="rId18"/>
    <p:sldId id="282" r:id="rId19"/>
    <p:sldId id="29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8CFE"/>
    <a:srgbClr val="442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4" autoAdjust="0"/>
    <p:restoredTop sz="93950" autoAdjust="0"/>
  </p:normalViewPr>
  <p:slideViewPr>
    <p:cSldViewPr snapToGrid="0">
      <p:cViewPr varScale="1">
        <p:scale>
          <a:sx n="56" d="100"/>
          <a:sy n="56" d="100"/>
        </p:scale>
        <p:origin x="7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6456D-0704-4A9F-B0E6-4909E4365A2B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5B0DD-189B-4185-B658-F976725C17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35C7C7-FCC0-473E-8738-608D4B0E5BD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35C7C7-FCC0-473E-8738-608D4B0E5BD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35C7C7-FCC0-473E-8738-608D4B0E5BD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35C7C7-FCC0-473E-8738-608D4B0E5BD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86855-8D0F-4FB8-8AB6-33D9A113F64C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86855-8D0F-4FB8-8AB6-33D9A113F64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991978" y="64311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" y="136525"/>
            <a:ext cx="10515600" cy="594995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731520"/>
            <a:ext cx="12192000" cy="5989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phone 6 floa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331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331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261842" y="3429803"/>
            <a:ext cx="518884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6478774" y="4081555"/>
            <a:ext cx="4298201" cy="355997"/>
            <a:chOff x="7400823" y="5164134"/>
            <a:chExt cx="4533268" cy="375465"/>
          </a:xfrm>
          <a:solidFill>
            <a:srgbClr val="0170C1"/>
          </a:solidFill>
        </p:grpSpPr>
        <p:grpSp>
          <p:nvGrpSpPr>
            <p:cNvPr id="8" name="组合 7"/>
            <p:cNvGrpSpPr/>
            <p:nvPr/>
          </p:nvGrpSpPr>
          <p:grpSpPr>
            <a:xfrm>
              <a:off x="7400823" y="5264605"/>
              <a:ext cx="217176" cy="217176"/>
              <a:chOff x="6562677" y="5316612"/>
              <a:chExt cx="458864" cy="458864"/>
            </a:xfrm>
            <a:grpFill/>
          </p:grpSpPr>
          <p:sp>
            <p:nvSpPr>
              <p:cNvPr id="14" name="椭圆 13"/>
              <p:cNvSpPr/>
              <p:nvPr/>
            </p:nvSpPr>
            <p:spPr>
              <a:xfrm>
                <a:off x="6562677" y="5316612"/>
                <a:ext cx="458864" cy="458864"/>
              </a:xfrm>
              <a:prstGeom prst="ellipse">
                <a:avLst/>
              </a:prstGeom>
              <a:solidFill>
                <a:srgbClr val="B48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0" dirty="0">
                    <a:solidFill>
                      <a:schemeClr val="tx2"/>
                    </a:solidFill>
                    <a:cs typeface="+mn-ea"/>
                    <a:sym typeface="+mn-lt"/>
                  </a:rPr>
                  <a:t> </a:t>
                </a:r>
                <a:endParaRPr lang="zh-CN" altLang="en-US" sz="4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61"/>
              <p:cNvSpPr>
                <a:spLocks noChangeArrowheads="1"/>
              </p:cNvSpPr>
              <p:nvPr/>
            </p:nvSpPr>
            <p:spPr bwMode="auto">
              <a:xfrm>
                <a:off x="6686102" y="5393131"/>
                <a:ext cx="212014" cy="305826"/>
              </a:xfrm>
              <a:custGeom>
                <a:avLst/>
                <a:gdLst>
                  <a:gd name="T0" fmla="*/ 54282578 w 418"/>
                  <a:gd name="T1" fmla="*/ 36023527 h 602"/>
                  <a:gd name="T2" fmla="*/ 54282578 w 418"/>
                  <a:gd name="T3" fmla="*/ 36023527 h 602"/>
                  <a:gd name="T4" fmla="*/ 30330731 w 418"/>
                  <a:gd name="T5" fmla="*/ 62649550 h 602"/>
                  <a:gd name="T6" fmla="*/ 30330731 w 418"/>
                  <a:gd name="T7" fmla="*/ 71002968 h 602"/>
                  <a:gd name="T8" fmla="*/ 43217666 w 418"/>
                  <a:gd name="T9" fmla="*/ 71002968 h 602"/>
                  <a:gd name="T10" fmla="*/ 46862795 w 418"/>
                  <a:gd name="T11" fmla="*/ 74657633 h 602"/>
                  <a:gd name="T12" fmla="*/ 43217666 w 418"/>
                  <a:gd name="T13" fmla="*/ 78442719 h 602"/>
                  <a:gd name="T14" fmla="*/ 26685603 w 418"/>
                  <a:gd name="T15" fmla="*/ 78442719 h 602"/>
                  <a:gd name="T16" fmla="*/ 11064912 w 418"/>
                  <a:gd name="T17" fmla="*/ 78442719 h 602"/>
                  <a:gd name="T18" fmla="*/ 7289896 w 418"/>
                  <a:gd name="T19" fmla="*/ 74657633 h 602"/>
                  <a:gd name="T20" fmla="*/ 11064912 w 418"/>
                  <a:gd name="T21" fmla="*/ 71002968 h 602"/>
                  <a:gd name="T22" fmla="*/ 23040835 w 418"/>
                  <a:gd name="T23" fmla="*/ 71002968 h 602"/>
                  <a:gd name="T24" fmla="*/ 23040835 w 418"/>
                  <a:gd name="T25" fmla="*/ 62649550 h 602"/>
                  <a:gd name="T26" fmla="*/ 0 w 418"/>
                  <a:gd name="T27" fmla="*/ 36023527 h 602"/>
                  <a:gd name="T28" fmla="*/ 0 w 418"/>
                  <a:gd name="T29" fmla="*/ 36023527 h 602"/>
                  <a:gd name="T30" fmla="*/ 0 w 418"/>
                  <a:gd name="T31" fmla="*/ 36023527 h 602"/>
                  <a:gd name="T32" fmla="*/ 3644768 w 418"/>
                  <a:gd name="T33" fmla="*/ 32238441 h 602"/>
                  <a:gd name="T34" fmla="*/ 7289896 w 418"/>
                  <a:gd name="T35" fmla="*/ 36023527 h 602"/>
                  <a:gd name="T36" fmla="*/ 7289896 w 418"/>
                  <a:gd name="T37" fmla="*/ 36023527 h 602"/>
                  <a:gd name="T38" fmla="*/ 26685603 w 418"/>
                  <a:gd name="T39" fmla="*/ 55340580 h 602"/>
                  <a:gd name="T40" fmla="*/ 46862795 w 418"/>
                  <a:gd name="T41" fmla="*/ 36023527 h 602"/>
                  <a:gd name="T42" fmla="*/ 46862795 w 418"/>
                  <a:gd name="T43" fmla="*/ 36023527 h 602"/>
                  <a:gd name="T44" fmla="*/ 50637810 w 418"/>
                  <a:gd name="T45" fmla="*/ 32238441 h 602"/>
                  <a:gd name="T46" fmla="*/ 54282578 w 418"/>
                  <a:gd name="T47" fmla="*/ 36023527 h 602"/>
                  <a:gd name="T48" fmla="*/ 26685603 w 418"/>
                  <a:gd name="T49" fmla="*/ 48814495 h 602"/>
                  <a:gd name="T50" fmla="*/ 26685603 w 418"/>
                  <a:gd name="T51" fmla="*/ 48814495 h 602"/>
                  <a:gd name="T52" fmla="*/ 26685603 w 418"/>
                  <a:gd name="T53" fmla="*/ 48814495 h 602"/>
                  <a:gd name="T54" fmla="*/ 11975923 w 418"/>
                  <a:gd name="T55" fmla="*/ 34065774 h 602"/>
                  <a:gd name="T56" fmla="*/ 11975923 w 418"/>
                  <a:gd name="T57" fmla="*/ 14748721 h 602"/>
                  <a:gd name="T58" fmla="*/ 26685603 w 418"/>
                  <a:gd name="T59" fmla="*/ 0 h 602"/>
                  <a:gd name="T60" fmla="*/ 26685603 w 418"/>
                  <a:gd name="T61" fmla="*/ 0 h 602"/>
                  <a:gd name="T62" fmla="*/ 41395282 w 418"/>
                  <a:gd name="T63" fmla="*/ 14748721 h 602"/>
                  <a:gd name="T64" fmla="*/ 41395282 w 418"/>
                  <a:gd name="T65" fmla="*/ 34065774 h 602"/>
                  <a:gd name="T66" fmla="*/ 26685603 w 418"/>
                  <a:gd name="T67" fmla="*/ 48814495 h 60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18" h="602">
                    <a:moveTo>
                      <a:pt x="417" y="276"/>
                    </a:moveTo>
                    <a:lnTo>
                      <a:pt x="417" y="276"/>
                    </a:lnTo>
                    <a:cubicBezTo>
                      <a:pt x="417" y="382"/>
                      <a:pt x="339" y="466"/>
                      <a:pt x="233" y="480"/>
                    </a:cubicBezTo>
                    <a:cubicBezTo>
                      <a:pt x="233" y="544"/>
                      <a:pt x="233" y="544"/>
                      <a:pt x="233" y="544"/>
                    </a:cubicBezTo>
                    <a:cubicBezTo>
                      <a:pt x="332" y="544"/>
                      <a:pt x="332" y="544"/>
                      <a:pt x="332" y="544"/>
                    </a:cubicBezTo>
                    <a:cubicBezTo>
                      <a:pt x="346" y="544"/>
                      <a:pt x="360" y="558"/>
                      <a:pt x="360" y="572"/>
                    </a:cubicBezTo>
                    <a:cubicBezTo>
                      <a:pt x="360" y="594"/>
                      <a:pt x="346" y="601"/>
                      <a:pt x="332" y="601"/>
                    </a:cubicBezTo>
                    <a:cubicBezTo>
                      <a:pt x="205" y="601"/>
                      <a:pt x="205" y="601"/>
                      <a:pt x="205" y="601"/>
                    </a:cubicBezTo>
                    <a:cubicBezTo>
                      <a:pt x="85" y="601"/>
                      <a:pt x="85" y="601"/>
                      <a:pt x="85" y="601"/>
                    </a:cubicBezTo>
                    <a:cubicBezTo>
                      <a:pt x="71" y="601"/>
                      <a:pt x="56" y="594"/>
                      <a:pt x="56" y="572"/>
                    </a:cubicBezTo>
                    <a:cubicBezTo>
                      <a:pt x="56" y="558"/>
                      <a:pt x="71" y="544"/>
                      <a:pt x="85" y="544"/>
                    </a:cubicBezTo>
                    <a:cubicBezTo>
                      <a:pt x="177" y="544"/>
                      <a:pt x="177" y="544"/>
                      <a:pt x="177" y="544"/>
                    </a:cubicBezTo>
                    <a:cubicBezTo>
                      <a:pt x="177" y="480"/>
                      <a:pt x="177" y="480"/>
                      <a:pt x="177" y="480"/>
                    </a:cubicBezTo>
                    <a:cubicBezTo>
                      <a:pt x="78" y="466"/>
                      <a:pt x="0" y="382"/>
                      <a:pt x="0" y="276"/>
                    </a:cubicBezTo>
                    <a:cubicBezTo>
                      <a:pt x="0" y="254"/>
                      <a:pt x="14" y="247"/>
                      <a:pt x="28" y="247"/>
                    </a:cubicBezTo>
                    <a:cubicBezTo>
                      <a:pt x="42" y="247"/>
                      <a:pt x="56" y="254"/>
                      <a:pt x="56" y="276"/>
                    </a:cubicBezTo>
                    <a:cubicBezTo>
                      <a:pt x="56" y="353"/>
                      <a:pt x="127" y="424"/>
                      <a:pt x="205" y="424"/>
                    </a:cubicBezTo>
                    <a:cubicBezTo>
                      <a:pt x="290" y="424"/>
                      <a:pt x="360" y="353"/>
                      <a:pt x="360" y="276"/>
                    </a:cubicBezTo>
                    <a:cubicBezTo>
                      <a:pt x="360" y="254"/>
                      <a:pt x="367" y="247"/>
                      <a:pt x="389" y="247"/>
                    </a:cubicBezTo>
                    <a:cubicBezTo>
                      <a:pt x="403" y="247"/>
                      <a:pt x="417" y="254"/>
                      <a:pt x="417" y="276"/>
                    </a:cubicBezTo>
                    <a:close/>
                    <a:moveTo>
                      <a:pt x="205" y="374"/>
                    </a:moveTo>
                    <a:lnTo>
                      <a:pt x="205" y="374"/>
                    </a:lnTo>
                    <a:cubicBezTo>
                      <a:pt x="141" y="374"/>
                      <a:pt x="92" y="325"/>
                      <a:pt x="92" y="261"/>
                    </a:cubicBezTo>
                    <a:cubicBezTo>
                      <a:pt x="92" y="113"/>
                      <a:pt x="92" y="113"/>
                      <a:pt x="92" y="113"/>
                    </a:cubicBezTo>
                    <a:cubicBezTo>
                      <a:pt x="92" y="49"/>
                      <a:pt x="141" y="0"/>
                      <a:pt x="205" y="0"/>
                    </a:cubicBezTo>
                    <a:cubicBezTo>
                      <a:pt x="269" y="0"/>
                      <a:pt x="318" y="49"/>
                      <a:pt x="318" y="113"/>
                    </a:cubicBezTo>
                    <a:cubicBezTo>
                      <a:pt x="318" y="261"/>
                      <a:pt x="318" y="261"/>
                      <a:pt x="318" y="261"/>
                    </a:cubicBezTo>
                    <a:cubicBezTo>
                      <a:pt x="318" y="325"/>
                      <a:pt x="269" y="374"/>
                      <a:pt x="205" y="37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9770687" y="5264605"/>
              <a:ext cx="217176" cy="217176"/>
              <a:chOff x="9298190" y="5316612"/>
              <a:chExt cx="458865" cy="458864"/>
            </a:xfrm>
            <a:grpFill/>
          </p:grpSpPr>
          <p:sp>
            <p:nvSpPr>
              <p:cNvPr id="12" name="椭圆 11"/>
              <p:cNvSpPr/>
              <p:nvPr/>
            </p:nvSpPr>
            <p:spPr>
              <a:xfrm>
                <a:off x="9298190" y="5316612"/>
                <a:ext cx="458865" cy="458864"/>
              </a:xfrm>
              <a:prstGeom prst="ellipse">
                <a:avLst/>
              </a:prstGeom>
              <a:solidFill>
                <a:srgbClr val="B48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66"/>
              <p:cNvSpPr>
                <a:spLocks noChangeArrowheads="1"/>
              </p:cNvSpPr>
              <p:nvPr/>
            </p:nvSpPr>
            <p:spPr bwMode="auto">
              <a:xfrm>
                <a:off x="9374747" y="5393132"/>
                <a:ext cx="305746" cy="305827"/>
              </a:xfrm>
              <a:custGeom>
                <a:avLst/>
                <a:gdLst>
                  <a:gd name="T0" fmla="*/ 43 w 454"/>
                  <a:gd name="T1" fmla="*/ 325 h 453"/>
                  <a:gd name="T2" fmla="*/ 43 w 454"/>
                  <a:gd name="T3" fmla="*/ 325 h 453"/>
                  <a:gd name="T4" fmla="*/ 283 w 454"/>
                  <a:gd name="T5" fmla="*/ 92 h 453"/>
                  <a:gd name="T6" fmla="*/ 361 w 454"/>
                  <a:gd name="T7" fmla="*/ 169 h 453"/>
                  <a:gd name="T8" fmla="*/ 127 w 454"/>
                  <a:gd name="T9" fmla="*/ 410 h 453"/>
                  <a:gd name="T10" fmla="*/ 43 w 454"/>
                  <a:gd name="T11" fmla="*/ 325 h 453"/>
                  <a:gd name="T12" fmla="*/ 361 w 454"/>
                  <a:gd name="T13" fmla="*/ 7 h 453"/>
                  <a:gd name="T14" fmla="*/ 361 w 454"/>
                  <a:gd name="T15" fmla="*/ 7 h 453"/>
                  <a:gd name="T16" fmla="*/ 403 w 454"/>
                  <a:gd name="T17" fmla="*/ 7 h 453"/>
                  <a:gd name="T18" fmla="*/ 446 w 454"/>
                  <a:gd name="T19" fmla="*/ 49 h 453"/>
                  <a:gd name="T20" fmla="*/ 446 w 454"/>
                  <a:gd name="T21" fmla="*/ 92 h 453"/>
                  <a:gd name="T22" fmla="*/ 382 w 454"/>
                  <a:gd name="T23" fmla="*/ 148 h 453"/>
                  <a:gd name="T24" fmla="*/ 304 w 454"/>
                  <a:gd name="T25" fmla="*/ 71 h 453"/>
                  <a:gd name="T26" fmla="*/ 361 w 454"/>
                  <a:gd name="T27" fmla="*/ 7 h 453"/>
                  <a:gd name="T28" fmla="*/ 0 w 454"/>
                  <a:gd name="T29" fmla="*/ 452 h 453"/>
                  <a:gd name="T30" fmla="*/ 0 w 454"/>
                  <a:gd name="T31" fmla="*/ 452 h 453"/>
                  <a:gd name="T32" fmla="*/ 22 w 454"/>
                  <a:gd name="T33" fmla="*/ 346 h 453"/>
                  <a:gd name="T34" fmla="*/ 106 w 454"/>
                  <a:gd name="T35" fmla="*/ 424 h 453"/>
                  <a:gd name="T36" fmla="*/ 0 w 454"/>
                  <a:gd name="T37" fmla="*/ 452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4" h="453">
                    <a:moveTo>
                      <a:pt x="43" y="325"/>
                    </a:moveTo>
                    <a:lnTo>
                      <a:pt x="43" y="325"/>
                    </a:lnTo>
                    <a:cubicBezTo>
                      <a:pt x="283" y="92"/>
                      <a:pt x="283" y="92"/>
                      <a:pt x="283" y="92"/>
                    </a:cubicBezTo>
                    <a:cubicBezTo>
                      <a:pt x="361" y="169"/>
                      <a:pt x="361" y="169"/>
                      <a:pt x="361" y="169"/>
                    </a:cubicBezTo>
                    <a:cubicBezTo>
                      <a:pt x="127" y="410"/>
                      <a:pt x="127" y="410"/>
                      <a:pt x="127" y="410"/>
                    </a:cubicBezTo>
                    <a:lnTo>
                      <a:pt x="43" y="325"/>
                    </a:lnTo>
                    <a:close/>
                    <a:moveTo>
                      <a:pt x="361" y="7"/>
                    </a:moveTo>
                    <a:lnTo>
                      <a:pt x="361" y="7"/>
                    </a:lnTo>
                    <a:cubicBezTo>
                      <a:pt x="375" y="0"/>
                      <a:pt x="389" y="0"/>
                      <a:pt x="403" y="7"/>
                    </a:cubicBezTo>
                    <a:cubicBezTo>
                      <a:pt x="446" y="49"/>
                      <a:pt x="446" y="49"/>
                      <a:pt x="446" y="49"/>
                    </a:cubicBezTo>
                    <a:cubicBezTo>
                      <a:pt x="453" y="64"/>
                      <a:pt x="453" y="78"/>
                      <a:pt x="446" y="92"/>
                    </a:cubicBezTo>
                    <a:cubicBezTo>
                      <a:pt x="382" y="148"/>
                      <a:pt x="382" y="148"/>
                      <a:pt x="382" y="148"/>
                    </a:cubicBezTo>
                    <a:cubicBezTo>
                      <a:pt x="304" y="71"/>
                      <a:pt x="304" y="71"/>
                      <a:pt x="304" y="71"/>
                    </a:cubicBezTo>
                    <a:lnTo>
                      <a:pt x="361" y="7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cubicBezTo>
                      <a:pt x="22" y="346"/>
                      <a:pt x="22" y="346"/>
                      <a:pt x="22" y="346"/>
                    </a:cubicBezTo>
                    <a:cubicBezTo>
                      <a:pt x="106" y="424"/>
                      <a:pt x="106" y="424"/>
                      <a:pt x="106" y="424"/>
                    </a:cubicBezTo>
                    <a:lnTo>
                      <a:pt x="0" y="45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710129" y="5178202"/>
              <a:ext cx="1599240" cy="361397"/>
            </a:xfrm>
            <a:prstGeom prst="rect">
              <a:avLst/>
            </a:prstGeom>
            <a:noFill/>
          </p:spPr>
          <p:txBody>
            <a:bodyPr wrap="none" lIns="65024" tIns="32512" rIns="65024" bIns="32512">
              <a:spAutoFit/>
            </a:bodyPr>
            <a:lstStyle/>
            <a:p>
              <a:pPr algn="l">
                <a:buNone/>
              </a:pPr>
              <a:r>
                <a:rPr lang="zh-CN" altLang="en-US" cap="all" dirty="0">
                  <a:solidFill>
                    <a:schemeClr val="tx2"/>
                  </a:solidFill>
                  <a:cs typeface="+mn-ea"/>
                  <a:sym typeface="+mn-lt"/>
                </a:rPr>
                <a:t>汇报人：李维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952761" y="5164134"/>
              <a:ext cx="1981330" cy="361397"/>
            </a:xfrm>
            <a:prstGeom prst="rect">
              <a:avLst/>
            </a:prstGeom>
            <a:noFill/>
          </p:spPr>
          <p:txBody>
            <a:bodyPr wrap="none" lIns="65024" tIns="32512" rIns="65024" bIns="32512">
              <a:spAutoFit/>
            </a:bodyPr>
            <a:lstStyle/>
            <a:p>
              <a:pPr>
                <a:buNone/>
              </a:pPr>
              <a:r>
                <a:rPr lang="zh-CN" altLang="en-US" cap="all" dirty="0">
                  <a:solidFill>
                    <a:schemeClr val="tx2"/>
                  </a:solidFill>
                  <a:cs typeface="+mn-ea"/>
                  <a:sym typeface="+mn-lt"/>
                </a:rPr>
                <a:t>时间：</a:t>
              </a:r>
              <a:r>
                <a:rPr lang="en-US" altLang="zh-CN" cap="all" dirty="0">
                  <a:solidFill>
                    <a:schemeClr val="tx2"/>
                  </a:solidFill>
                  <a:cs typeface="+mn-ea"/>
                  <a:sym typeface="+mn-lt"/>
                </a:rPr>
                <a:t>2020.9.30</a:t>
              </a:r>
              <a:endParaRPr lang="zh-CN" altLang="en-US" cap="all" dirty="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TextBox 10"/>
          <p:cNvSpPr txBox="1"/>
          <p:nvPr/>
        </p:nvSpPr>
        <p:spPr>
          <a:xfrm>
            <a:off x="6095749" y="2546956"/>
            <a:ext cx="5496569" cy="988989"/>
          </a:xfrm>
          <a:prstGeom prst="rect">
            <a:avLst/>
          </a:prstGeom>
          <a:noFill/>
        </p:spPr>
        <p:txBody>
          <a:bodyPr wrap="none" lIns="65024" tIns="32512" rIns="65024" bIns="32512">
            <a:spAutoFit/>
          </a:bodyPr>
          <a:lstStyle/>
          <a:p>
            <a:pPr>
              <a:buNone/>
            </a:pPr>
            <a:r>
              <a:rPr lang="en-US" altLang="zh-CN" sz="6000" cap="all" dirty="0">
                <a:solidFill>
                  <a:schemeClr val="tx2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Js</a:t>
            </a:r>
            <a:r>
              <a:rPr lang="zh-CN" altLang="en-US" sz="6000" cap="all" dirty="0">
                <a:solidFill>
                  <a:schemeClr val="tx2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面向对象编程</a:t>
            </a:r>
            <a:endParaRPr lang="en-US" altLang="zh-CN" sz="6000" cap="all" dirty="0">
              <a:solidFill>
                <a:schemeClr val="tx2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36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6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41498" y="2112010"/>
            <a:ext cx="5020391" cy="263398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28234" y="2642636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02875" y="3201517"/>
            <a:ext cx="26613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31"/>
          <p:cNvSpPr>
            <a:spLocks noChangeArrowheads="1"/>
          </p:cNvSpPr>
          <p:nvPr/>
        </p:nvSpPr>
        <p:spPr bwMode="auto">
          <a:xfrm>
            <a:off x="8959520" y="2071796"/>
            <a:ext cx="2581275" cy="338554"/>
          </a:xfrm>
          <a:prstGeom prst="rect">
            <a:avLst/>
          </a:prstGeom>
          <a:noFill/>
          <a:ln w="9525">
            <a:solidFill>
              <a:srgbClr val="242B3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1600" b="1">
              <a:solidFill>
                <a:schemeClr val="tx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286545" y="2038461"/>
            <a:ext cx="2111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什么是对象</a:t>
            </a:r>
          </a:p>
        </p:txBody>
      </p:sp>
      <p:sp>
        <p:nvSpPr>
          <p:cNvPr id="7" name="矩形 29"/>
          <p:cNvSpPr>
            <a:spLocks noChangeArrowheads="1"/>
          </p:cNvSpPr>
          <p:nvPr/>
        </p:nvSpPr>
        <p:spPr bwMode="auto">
          <a:xfrm>
            <a:off x="7267798" y="1999037"/>
            <a:ext cx="1328738" cy="488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30"/>
          <p:cNvSpPr txBox="1">
            <a:spLocks noChangeArrowheads="1"/>
          </p:cNvSpPr>
          <p:nvPr/>
        </p:nvSpPr>
        <p:spPr bwMode="auto">
          <a:xfrm>
            <a:off x="7444011" y="2035550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第一章</a:t>
            </a:r>
          </a:p>
        </p:txBody>
      </p:sp>
      <p:sp>
        <p:nvSpPr>
          <p:cNvPr id="9" name="矩形 31"/>
          <p:cNvSpPr>
            <a:spLocks noChangeArrowheads="1"/>
          </p:cNvSpPr>
          <p:nvPr/>
        </p:nvSpPr>
        <p:spPr bwMode="auto">
          <a:xfrm>
            <a:off x="8959520" y="2846897"/>
            <a:ext cx="2581275" cy="338554"/>
          </a:xfrm>
          <a:prstGeom prst="rect">
            <a:avLst/>
          </a:prstGeom>
          <a:noFill/>
          <a:ln w="9525">
            <a:solidFill>
              <a:srgbClr val="242B3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1600" b="1">
              <a:solidFill>
                <a:schemeClr val="tx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8688800" y="2813648"/>
            <a:ext cx="33066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面向对象的编程思想</a:t>
            </a:r>
          </a:p>
        </p:txBody>
      </p:sp>
      <p:sp>
        <p:nvSpPr>
          <p:cNvPr id="11" name="矩形 29"/>
          <p:cNvSpPr>
            <a:spLocks noChangeArrowheads="1"/>
          </p:cNvSpPr>
          <p:nvPr/>
        </p:nvSpPr>
        <p:spPr bwMode="auto">
          <a:xfrm>
            <a:off x="7267798" y="2774138"/>
            <a:ext cx="1328738" cy="488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本框 30"/>
          <p:cNvSpPr txBox="1">
            <a:spLocks noChangeArrowheads="1"/>
          </p:cNvSpPr>
          <p:nvPr/>
        </p:nvSpPr>
        <p:spPr bwMode="auto">
          <a:xfrm>
            <a:off x="7444011" y="2810651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第二章</a:t>
            </a:r>
          </a:p>
        </p:txBody>
      </p:sp>
      <p:sp>
        <p:nvSpPr>
          <p:cNvPr id="13" name="矩形 31"/>
          <p:cNvSpPr>
            <a:spLocks noChangeArrowheads="1"/>
          </p:cNvSpPr>
          <p:nvPr/>
        </p:nvSpPr>
        <p:spPr bwMode="auto">
          <a:xfrm>
            <a:off x="8959520" y="3624182"/>
            <a:ext cx="2581275" cy="338554"/>
          </a:xfrm>
          <a:prstGeom prst="rect">
            <a:avLst/>
          </a:prstGeom>
          <a:noFill/>
          <a:ln w="9525">
            <a:solidFill>
              <a:srgbClr val="242B3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1600" b="1">
              <a:solidFill>
                <a:schemeClr val="tx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9286545" y="3590847"/>
            <a:ext cx="2111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面向对象的特征</a:t>
            </a:r>
          </a:p>
        </p:txBody>
      </p:sp>
      <p:sp>
        <p:nvSpPr>
          <p:cNvPr id="15" name="矩形 29"/>
          <p:cNvSpPr>
            <a:spLocks noChangeArrowheads="1"/>
          </p:cNvSpPr>
          <p:nvPr/>
        </p:nvSpPr>
        <p:spPr bwMode="auto">
          <a:xfrm>
            <a:off x="7267798" y="3551423"/>
            <a:ext cx="1328738" cy="488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30"/>
          <p:cNvSpPr txBox="1">
            <a:spLocks noChangeArrowheads="1"/>
          </p:cNvSpPr>
          <p:nvPr/>
        </p:nvSpPr>
        <p:spPr bwMode="auto">
          <a:xfrm>
            <a:off x="7444011" y="3587936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第三章</a:t>
            </a: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8959520" y="4401467"/>
            <a:ext cx="2581275" cy="338554"/>
          </a:xfrm>
          <a:prstGeom prst="rect">
            <a:avLst/>
          </a:prstGeom>
          <a:noFill/>
          <a:ln w="9525">
            <a:solidFill>
              <a:srgbClr val="242B3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1600" b="1">
              <a:solidFill>
                <a:schemeClr val="tx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9140166" y="4381233"/>
            <a:ext cx="24505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对象和数组的区别</a:t>
            </a:r>
          </a:p>
        </p:txBody>
      </p:sp>
      <p:sp>
        <p:nvSpPr>
          <p:cNvPr id="19" name="矩形 29"/>
          <p:cNvSpPr>
            <a:spLocks noChangeArrowheads="1"/>
          </p:cNvSpPr>
          <p:nvPr/>
        </p:nvSpPr>
        <p:spPr bwMode="auto">
          <a:xfrm>
            <a:off x="7267798" y="4328708"/>
            <a:ext cx="1328738" cy="4889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0"/>
          <p:cNvSpPr txBox="1">
            <a:spLocks noChangeArrowheads="1"/>
          </p:cNvSpPr>
          <p:nvPr/>
        </p:nvSpPr>
        <p:spPr bwMode="auto">
          <a:xfrm>
            <a:off x="7444011" y="4365221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第四章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15904"/>
            <a:ext cx="4304715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3597" y="223340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第一部分</a:t>
            </a:r>
          </a:p>
        </p:txBody>
      </p:sp>
      <p:sp>
        <p:nvSpPr>
          <p:cNvPr id="4" name="TextBox 23"/>
          <p:cNvSpPr txBox="1"/>
          <p:nvPr/>
        </p:nvSpPr>
        <p:spPr>
          <a:xfrm>
            <a:off x="5723592" y="2451150"/>
            <a:ext cx="1428596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对象定义</a:t>
            </a:r>
          </a:p>
        </p:txBody>
      </p:sp>
      <p:sp>
        <p:nvSpPr>
          <p:cNvPr id="5" name="TextBox 24"/>
          <p:cNvSpPr txBox="1"/>
          <p:nvPr/>
        </p:nvSpPr>
        <p:spPr>
          <a:xfrm>
            <a:off x="5723592" y="2887704"/>
            <a:ext cx="1479892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865" dirty="0">
                <a:solidFill>
                  <a:schemeClr val="tx2"/>
                </a:solidFill>
                <a:cs typeface="+mn-ea"/>
                <a:sym typeface="+mn-lt"/>
              </a:rPr>
              <a:t>Bom</a:t>
            </a: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对象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3704" y="1716048"/>
            <a:ext cx="2581156" cy="66710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3735" b="1" dirty="0">
                <a:solidFill>
                  <a:schemeClr val="tx2"/>
                </a:solidFill>
                <a:cs typeface="+mn-ea"/>
                <a:sym typeface="+mn-lt"/>
              </a:rPr>
              <a:t>什么是对象</a:t>
            </a:r>
          </a:p>
        </p:txBody>
      </p:sp>
      <p:sp>
        <p:nvSpPr>
          <p:cNvPr id="8" name="矩形 7"/>
          <p:cNvSpPr/>
          <p:nvPr/>
        </p:nvSpPr>
        <p:spPr>
          <a:xfrm>
            <a:off x="4403189" y="1815904"/>
            <a:ext cx="407963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9" name="TextBox 23"/>
          <p:cNvSpPr txBox="1"/>
          <p:nvPr/>
        </p:nvSpPr>
        <p:spPr>
          <a:xfrm>
            <a:off x="8553520" y="2496494"/>
            <a:ext cx="1510350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865" dirty="0">
                <a:solidFill>
                  <a:schemeClr val="tx2"/>
                </a:solidFill>
                <a:cs typeface="+mn-ea"/>
                <a:sym typeface="+mn-lt"/>
              </a:rPr>
              <a:t>Dom</a:t>
            </a: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对象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8553520" y="2933048"/>
            <a:ext cx="1428596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内置对象</a:t>
            </a:r>
          </a:p>
        </p:txBody>
      </p:sp>
      <p:sp>
        <p:nvSpPr>
          <p:cNvPr id="12" name="矩形 11"/>
          <p:cNvSpPr/>
          <p:nvPr/>
        </p:nvSpPr>
        <p:spPr>
          <a:xfrm>
            <a:off x="6277662" y="3500500"/>
            <a:ext cx="5914338" cy="2101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solidFill>
                <a:schemeClr val="tx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7" grpId="0"/>
      <p:bldP spid="8" grpId="0" animBg="1"/>
      <p:bldP spid="9" grpId="0"/>
      <p:bldP spid="10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857897" y="5619765"/>
            <a:ext cx="10361851" cy="674370"/>
          </a:xfrm>
          <a:prstGeom prst="rect">
            <a:avLst/>
          </a:prstGeom>
        </p:spPr>
        <p:txBody>
          <a:bodyPr wrap="square" lIns="121908" tIns="60954" rIns="121908" bIns="60954">
            <a:spAutoFit/>
          </a:bodyPr>
          <a:lstStyle/>
          <a:p>
            <a:r>
              <a:rPr lang="en-US" altLang="zh-CN" dirty="0"/>
              <a:t>JavaScript</a:t>
            </a:r>
            <a:r>
              <a:rPr lang="zh-CN" altLang="en-US" dirty="0"/>
              <a:t>中，除了</a:t>
            </a:r>
            <a:r>
              <a:rPr lang="en-US" altLang="zh-CN" dirty="0"/>
              <a:t>Boolean</a:t>
            </a:r>
            <a:r>
              <a:rPr lang="zh-CN" altLang="en-US" dirty="0"/>
              <a:t>、</a:t>
            </a:r>
            <a:r>
              <a:rPr lang="en-US" altLang="zh-CN" dirty="0"/>
              <a:t>null</a:t>
            </a:r>
            <a:r>
              <a:rPr lang="zh-CN" altLang="en-US" dirty="0"/>
              <a:t>、</a:t>
            </a:r>
            <a:r>
              <a:rPr lang="en-US" altLang="zh-CN" dirty="0"/>
              <a:t>undefined</a:t>
            </a:r>
            <a:r>
              <a:rPr lang="zh-CN" altLang="en-US" dirty="0"/>
              <a:t>之外，其他的数据都是对象，如数组、日期甚至函数等；</a:t>
            </a:r>
            <a:endParaRPr lang="ms-MY" sz="1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js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对象是什么</a:t>
            </a:r>
          </a:p>
        </p:txBody>
      </p:sp>
      <p:sp>
        <p:nvSpPr>
          <p:cNvPr id="3" name="矩形 2"/>
          <p:cNvSpPr/>
          <p:nvPr/>
        </p:nvSpPr>
        <p:spPr>
          <a:xfrm>
            <a:off x="2255467" y="1076912"/>
            <a:ext cx="7109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在座的各位，都是对象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487507" y="2553016"/>
            <a:ext cx="3127249" cy="2506842"/>
            <a:chOff x="857897" y="2252312"/>
            <a:chExt cx="3127249" cy="2506842"/>
          </a:xfrm>
        </p:grpSpPr>
        <p:sp>
          <p:nvSpPr>
            <p:cNvPr id="4" name="矩形 3"/>
            <p:cNvSpPr/>
            <p:nvPr/>
          </p:nvSpPr>
          <p:spPr>
            <a:xfrm>
              <a:off x="857897" y="2975212"/>
              <a:ext cx="984551" cy="9233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猫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510594" y="2252312"/>
              <a:ext cx="1474552" cy="9233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身高、体重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2510594" y="3835824"/>
              <a:ext cx="1474552" cy="9233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吃饭睡觉</a:t>
              </a:r>
            </a:p>
          </p:txBody>
        </p:sp>
        <p:cxnSp>
          <p:nvCxnSpPr>
            <p:cNvPr id="42" name="直接箭头连接符 41"/>
            <p:cNvCxnSpPr>
              <a:stCxn id="4" idx="3"/>
              <a:endCxn id="7" idx="1"/>
            </p:cNvCxnSpPr>
            <p:nvPr/>
          </p:nvCxnSpPr>
          <p:spPr>
            <a:xfrm>
              <a:off x="1842448" y="3436877"/>
              <a:ext cx="668146" cy="864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4" idx="3"/>
              <a:endCxn id="6" idx="1"/>
            </p:cNvCxnSpPr>
            <p:nvPr/>
          </p:nvCxnSpPr>
          <p:spPr>
            <a:xfrm flipV="1">
              <a:off x="1842448" y="2713977"/>
              <a:ext cx="668146" cy="7229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3" name="矩形 62"/>
          <p:cNvSpPr/>
          <p:nvPr/>
        </p:nvSpPr>
        <p:spPr>
          <a:xfrm>
            <a:off x="1313856" y="2755449"/>
            <a:ext cx="668146" cy="3898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属性</a:t>
            </a:r>
            <a:endParaRPr lang="en-US" altLang="zh-CN" dirty="0"/>
          </a:p>
        </p:txBody>
      </p:sp>
      <p:sp>
        <p:nvSpPr>
          <p:cNvPr id="65" name="矩形 64"/>
          <p:cNvSpPr/>
          <p:nvPr/>
        </p:nvSpPr>
        <p:spPr>
          <a:xfrm>
            <a:off x="1215441" y="4351043"/>
            <a:ext cx="766561" cy="3006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方法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5125678" y="2477431"/>
            <a:ext cx="6094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var obj={};</a:t>
            </a:r>
          </a:p>
          <a:p>
            <a:pPr algn="l"/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obj.width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=100;   //width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属性值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200</a:t>
            </a:r>
            <a:endParaRPr lang="zh-CN" altLang="en-US" sz="2400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obj.height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=200;   //height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属性值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200</a:t>
            </a:r>
            <a:endParaRPr lang="zh-CN" altLang="en-US" sz="2400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obj.say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=function(){</a:t>
            </a:r>
          </a:p>
          <a:p>
            <a:pPr algn="l"/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 //say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方法</a:t>
            </a:r>
          </a:p>
          <a:p>
            <a:pPr algn="l"/>
            <a:r>
              <a:rPr lang="en-US" altLang="zh-CN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 flipH="1">
            <a:off x="7014487" y="1813123"/>
            <a:ext cx="3770035" cy="8048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>
                <a:cs typeface="+mn-ea"/>
                <a:sym typeface="+mn-lt"/>
              </a:rPr>
              <a:t>Navigator</a:t>
            </a:r>
            <a:r>
              <a:rPr lang="zh-CN" altLang="en-US" dirty="0">
                <a:cs typeface="+mn-ea"/>
                <a:sym typeface="+mn-lt"/>
              </a:rPr>
              <a:t>对象</a:t>
            </a:r>
          </a:p>
        </p:txBody>
      </p:sp>
      <p:sp>
        <p:nvSpPr>
          <p:cNvPr id="9" name="矩形 8"/>
          <p:cNvSpPr/>
          <p:nvPr/>
        </p:nvSpPr>
        <p:spPr>
          <a:xfrm flipH="1">
            <a:off x="1407478" y="1849717"/>
            <a:ext cx="3770035" cy="8048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>
                <a:cs typeface="+mn-ea"/>
                <a:sym typeface="+mn-lt"/>
              </a:rPr>
              <a:t>Window</a:t>
            </a:r>
            <a:r>
              <a:rPr lang="zh-CN" altLang="en-US" dirty="0">
                <a:cs typeface="+mn-ea"/>
                <a:sym typeface="+mn-lt"/>
              </a:rPr>
              <a:t>对象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121956" y="4711946"/>
            <a:ext cx="4988045" cy="451405"/>
          </a:xfrm>
          <a:prstGeom prst="rect">
            <a:avLst/>
          </a:prstGeom>
          <a:noFill/>
        </p:spPr>
        <p:txBody>
          <a:bodyPr lIns="121908" tIns="60954" rIns="121908" bIns="60954">
            <a:spAutoFit/>
          </a:bodyPr>
          <a:lstStyle/>
          <a:p>
            <a:pPr>
              <a:defRPr/>
            </a:pPr>
            <a:endParaRPr lang="zh-CN" altLang="en-US" sz="2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 flipH="1">
            <a:off x="1407478" y="3706983"/>
            <a:ext cx="3770035" cy="804863"/>
          </a:xfrm>
          <a:prstGeom prst="rect">
            <a:avLst/>
          </a:prstGeom>
          <a:solidFill>
            <a:srgbClr val="44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/>
              <a:t>Document</a:t>
            </a:r>
            <a:r>
              <a:rPr lang="zh-CN" altLang="en-US" dirty="0">
                <a:cs typeface="+mn-ea"/>
                <a:sym typeface="+mn-lt"/>
              </a:rPr>
              <a:t>对象</a:t>
            </a:r>
          </a:p>
        </p:txBody>
      </p:sp>
      <p:sp>
        <p:nvSpPr>
          <p:cNvPr id="7" name="矩形 6"/>
          <p:cNvSpPr/>
          <p:nvPr/>
        </p:nvSpPr>
        <p:spPr>
          <a:xfrm flipH="1">
            <a:off x="1407478" y="5564251"/>
            <a:ext cx="3770035" cy="8024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/>
              <a:t>Location</a:t>
            </a:r>
            <a:r>
              <a:rPr lang="zh-CN" altLang="en-US" dirty="0"/>
              <a:t>对象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BOM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对象</a:t>
            </a:r>
          </a:p>
        </p:txBody>
      </p:sp>
      <p:sp>
        <p:nvSpPr>
          <p:cNvPr id="25" name="矩形 24"/>
          <p:cNvSpPr/>
          <p:nvPr/>
        </p:nvSpPr>
        <p:spPr>
          <a:xfrm flipH="1">
            <a:off x="7014487" y="3709401"/>
            <a:ext cx="3770035" cy="802445"/>
          </a:xfrm>
          <a:prstGeom prst="rect">
            <a:avLst/>
          </a:prstGeom>
          <a:solidFill>
            <a:srgbClr val="B48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/>
              <a:t>Screen</a:t>
            </a:r>
            <a:r>
              <a:rPr lang="zh-CN" altLang="en-US" dirty="0"/>
              <a:t>对象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 flipH="1">
            <a:off x="7014489" y="5553400"/>
            <a:ext cx="3770035" cy="8048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anchor="ctr"/>
          <a:lstStyle/>
          <a:p>
            <a:pPr algn="ctr">
              <a:defRPr/>
            </a:pPr>
            <a:r>
              <a:rPr lang="en-US" altLang="zh-CN" dirty="0">
                <a:cs typeface="+mn-ea"/>
                <a:sym typeface="+mn-lt"/>
              </a:rPr>
              <a:t>History</a:t>
            </a:r>
            <a:r>
              <a:rPr lang="zh-CN" altLang="en-US" dirty="0">
                <a:cs typeface="+mn-ea"/>
                <a:sym typeface="+mn-lt"/>
              </a:rPr>
              <a:t>对象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965960" y="839780"/>
            <a:ext cx="8260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effectLst/>
                <a:latin typeface="PingFang SC"/>
              </a:rPr>
              <a:t>BOM</a:t>
            </a:r>
            <a:r>
              <a:rPr lang="zh-CN" altLang="en-US" sz="2400" b="0" i="0" dirty="0">
                <a:effectLst/>
                <a:latin typeface="PingFang SC"/>
              </a:rPr>
              <a:t>是</a:t>
            </a:r>
            <a:r>
              <a:rPr lang="en-US" altLang="zh-CN" sz="2400" b="0" i="0" dirty="0">
                <a:effectLst/>
                <a:latin typeface="PingFang SC"/>
              </a:rPr>
              <a:t>browser object model</a:t>
            </a:r>
            <a:r>
              <a:rPr lang="zh-CN" altLang="en-US" sz="2400" b="0" i="0" dirty="0">
                <a:effectLst/>
                <a:latin typeface="PingFang SC"/>
              </a:rPr>
              <a:t>的缩写，简称浏览器对象模型 ，提供了独立于内容而与浏览器窗口进行交互的对象；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对象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81000" y="1139875"/>
            <a:ext cx="1112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SC-Regular"/>
              </a:rPr>
              <a:t>当网页被加载时，浏览器会创建页面的文档对象模型（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PingFangSC-Regular"/>
              </a:rPr>
              <a:t>Document Object Model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SC-Regular"/>
              </a:rPr>
              <a:t>）。</a:t>
            </a:r>
            <a:endParaRPr lang="zh-CN" altLang="en-US" sz="2400" dirty="0"/>
          </a:p>
        </p:txBody>
      </p:sp>
      <p:pic>
        <p:nvPicPr>
          <p:cNvPr id="1026" name="Picture 2" descr="DOM HTML 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132" y="1601540"/>
            <a:ext cx="8547736" cy="467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泪滴形 16"/>
          <p:cNvSpPr/>
          <p:nvPr/>
        </p:nvSpPr>
        <p:spPr>
          <a:xfrm>
            <a:off x="4027871" y="3856918"/>
            <a:ext cx="1864416" cy="1864659"/>
          </a:xfrm>
          <a:prstGeom prst="teardrop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18" name="泪滴形 17"/>
          <p:cNvSpPr/>
          <p:nvPr/>
        </p:nvSpPr>
        <p:spPr>
          <a:xfrm flipV="1">
            <a:off x="4368999" y="2233553"/>
            <a:ext cx="1523286" cy="1523484"/>
          </a:xfrm>
          <a:prstGeom prst="teardrop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19" name="泪滴形 18"/>
          <p:cNvSpPr/>
          <p:nvPr/>
        </p:nvSpPr>
        <p:spPr>
          <a:xfrm flipH="1" flipV="1">
            <a:off x="5990032" y="1892378"/>
            <a:ext cx="1864416" cy="1864659"/>
          </a:xfrm>
          <a:prstGeom prst="teardrop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309932" y="2050020"/>
            <a:ext cx="1360719" cy="136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251036" y="4172424"/>
            <a:ext cx="1360719" cy="136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543927" y="2375006"/>
            <a:ext cx="1007092" cy="1007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3" name="泪滴形 22"/>
          <p:cNvSpPr/>
          <p:nvPr/>
        </p:nvSpPr>
        <p:spPr>
          <a:xfrm flipH="1">
            <a:off x="5990033" y="3856918"/>
            <a:ext cx="1864416" cy="1864659"/>
          </a:xfrm>
          <a:prstGeom prst="teardrop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95590" y="4187608"/>
            <a:ext cx="1360719" cy="136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0123" y="2671446"/>
            <a:ext cx="709337" cy="369320"/>
          </a:xfrm>
          <a:prstGeom prst="rect">
            <a:avLst/>
          </a:prstGeom>
          <a:noFill/>
          <a:ln>
            <a:noFill/>
          </a:ln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Date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49701" y="2526562"/>
            <a:ext cx="770379" cy="369320"/>
          </a:xfrm>
          <a:prstGeom prst="rect">
            <a:avLst/>
          </a:prstGeom>
          <a:noFill/>
          <a:ln>
            <a:noFill/>
          </a:ln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Array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44687" y="4668357"/>
            <a:ext cx="763967" cy="369320"/>
          </a:xfrm>
          <a:prstGeom prst="rect">
            <a:avLst/>
          </a:prstGeom>
          <a:noFill/>
          <a:ln>
            <a:noFill/>
          </a:ln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Math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4367" y="4683390"/>
            <a:ext cx="825779" cy="369320"/>
          </a:xfrm>
          <a:prstGeom prst="rect">
            <a:avLst/>
          </a:prstGeom>
          <a:noFill/>
          <a:ln>
            <a:noFill/>
          </a:ln>
        </p:spPr>
        <p:txBody>
          <a:bodyPr wrap="none" lIns="121908" tIns="60954" rIns="121908" bIns="60954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String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42013" y="4809841"/>
            <a:ext cx="2733457" cy="738652"/>
          </a:xfrm>
          <a:prstGeom prst="rect">
            <a:avLst/>
          </a:prstGeom>
          <a:noFill/>
          <a:ln>
            <a:noFill/>
          </a:ln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字符串对象，对字符串的操作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2014" y="2332608"/>
            <a:ext cx="2672824" cy="738652"/>
          </a:xfrm>
          <a:prstGeom prst="rect">
            <a:avLst/>
          </a:prstGeom>
          <a:noFill/>
          <a:ln>
            <a:noFill/>
          </a:ln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数组对象，插入元素、删除元素等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530" y="4854226"/>
            <a:ext cx="2423777" cy="1046428"/>
          </a:xfrm>
          <a:prstGeom prst="rect">
            <a:avLst/>
          </a:prstGeom>
          <a:noFill/>
          <a:ln>
            <a:noFill/>
          </a:ln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算术对象，随机数、算术方法如加减乘除平方平方根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162" y="2332608"/>
            <a:ext cx="2925311" cy="738652"/>
          </a:xfrm>
          <a:prstGeom prst="rect">
            <a:avLst/>
          </a:prstGeom>
          <a:noFill/>
          <a:ln>
            <a:noFill/>
          </a:ln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时间对象，获取现在的时间，时分秒日月日等</a:t>
            </a:r>
          </a:p>
        </p:txBody>
      </p:sp>
      <p:sp>
        <p:nvSpPr>
          <p:cNvPr id="47" name="环形箭头 46"/>
          <p:cNvSpPr/>
          <p:nvPr/>
        </p:nvSpPr>
        <p:spPr>
          <a:xfrm>
            <a:off x="7499141" y="4017433"/>
            <a:ext cx="1366462" cy="1366640"/>
          </a:xfrm>
          <a:prstGeom prst="circularArrow">
            <a:avLst>
              <a:gd name="adj1" fmla="val 8049"/>
              <a:gd name="adj2" fmla="val 1142319"/>
              <a:gd name="adj3" fmla="val 20457681"/>
              <a:gd name="adj4" fmla="val 14921288"/>
              <a:gd name="adj5" fmla="val 112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48" name="环形箭头 47"/>
          <p:cNvSpPr/>
          <p:nvPr/>
        </p:nvSpPr>
        <p:spPr>
          <a:xfrm flipV="1">
            <a:off x="7467169" y="2483529"/>
            <a:ext cx="1366462" cy="1366640"/>
          </a:xfrm>
          <a:prstGeom prst="circularArrow">
            <a:avLst>
              <a:gd name="adj1" fmla="val 8049"/>
              <a:gd name="adj2" fmla="val 1142319"/>
              <a:gd name="adj3" fmla="val 20457681"/>
              <a:gd name="adj4" fmla="val 14921288"/>
              <a:gd name="adj5" fmla="val 11288"/>
            </a:avLst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49" name="环形箭头 48"/>
          <p:cNvSpPr/>
          <p:nvPr/>
        </p:nvSpPr>
        <p:spPr>
          <a:xfrm flipH="1">
            <a:off x="3122306" y="3966240"/>
            <a:ext cx="1366462" cy="1366640"/>
          </a:xfrm>
          <a:prstGeom prst="circularArrow">
            <a:avLst>
              <a:gd name="adj1" fmla="val 8049"/>
              <a:gd name="adj2" fmla="val 1142319"/>
              <a:gd name="adj3" fmla="val 20457681"/>
              <a:gd name="adj4" fmla="val 14921288"/>
              <a:gd name="adj5" fmla="val 11288"/>
            </a:avLst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50" name="环形箭头 49"/>
          <p:cNvSpPr/>
          <p:nvPr/>
        </p:nvSpPr>
        <p:spPr>
          <a:xfrm flipH="1" flipV="1">
            <a:off x="3090335" y="2432336"/>
            <a:ext cx="1366462" cy="1366640"/>
          </a:xfrm>
          <a:prstGeom prst="circularArrow">
            <a:avLst>
              <a:gd name="adj1" fmla="val 8049"/>
              <a:gd name="adj2" fmla="val 1142319"/>
              <a:gd name="adj3" fmla="val 20457681"/>
              <a:gd name="adj4" fmla="val 14921288"/>
              <a:gd name="adj5" fmla="val 11288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>
              <a:solidFill>
                <a:srgbClr val="D20402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内置对象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35" grpId="0"/>
      <p:bldP spid="36" grpId="0"/>
      <p:bldP spid="37" grpId="0"/>
      <p:bldP spid="38" grpId="0"/>
      <p:bldP spid="39" grpId="0"/>
      <p:bldP spid="40" grpId="0"/>
      <p:bldP spid="46" grpId="0"/>
      <p:bldP spid="47" grpId="0" animBg="1"/>
      <p:bldP spid="48" grpId="0" animBg="1"/>
      <p:bldP spid="49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15904"/>
            <a:ext cx="4304715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3597" y="223340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第二部分</a:t>
            </a:r>
          </a:p>
        </p:txBody>
      </p:sp>
      <p:sp>
        <p:nvSpPr>
          <p:cNvPr id="4" name="TextBox 23"/>
          <p:cNvSpPr txBox="1"/>
          <p:nvPr/>
        </p:nvSpPr>
        <p:spPr>
          <a:xfrm>
            <a:off x="5723592" y="2451150"/>
            <a:ext cx="2622834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面向过程的编程思想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3704" y="1716048"/>
            <a:ext cx="4498347" cy="66710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3735" b="1" dirty="0">
                <a:solidFill>
                  <a:schemeClr val="tx2"/>
                </a:solidFill>
                <a:cs typeface="+mn-ea"/>
                <a:sym typeface="+mn-lt"/>
              </a:rPr>
              <a:t>面向对象的编程思想</a:t>
            </a:r>
          </a:p>
        </p:txBody>
      </p:sp>
      <p:sp>
        <p:nvSpPr>
          <p:cNvPr id="8" name="矩形 7"/>
          <p:cNvSpPr/>
          <p:nvPr/>
        </p:nvSpPr>
        <p:spPr>
          <a:xfrm>
            <a:off x="4403189" y="1815904"/>
            <a:ext cx="407963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78881" y="4028957"/>
            <a:ext cx="5914338" cy="2101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solidFill>
                <a:schemeClr val="tx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7" grpId="0"/>
      <p:bldP spid="8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6015934" y="4621649"/>
            <a:ext cx="4734605" cy="984873"/>
          </a:xfrm>
          <a:prstGeom prst="rect">
            <a:avLst/>
          </a:prstGeom>
          <a:noFill/>
          <a:ln>
            <a:noFill/>
          </a:ln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点击添加文字内容内容简要详尽，言简意赅叙述内容概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要。点击添加文字内容，内容简要详尽，言简意赅叙述内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容概要。点击添加文字内容，内容简要详尽，言简意赅叙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述内容概要。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面向过程的编程思想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49648" y="2551837"/>
            <a:ext cx="10492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0" i="0" dirty="0">
                <a:solidFill>
                  <a:srgbClr val="333333"/>
                </a:solidFill>
                <a:effectLst/>
                <a:latin typeface="PingFang SC"/>
              </a:rPr>
              <a:t>面向过程就是分析出解决问题所需要的步骤</a:t>
            </a:r>
            <a:r>
              <a:rPr lang="zh-CN" altLang="en-US" sz="3600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PingFang SC"/>
              </a:rPr>
              <a:t>然后用函数把这些步骤一步一步实现，使用的时候一个一个依次调用就可以了。</a:t>
            </a:r>
            <a:endParaRPr lang="en-US" altLang="zh-CN" sz="3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面向对象的编程思想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49648" y="2551837"/>
            <a:ext cx="10492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0" i="0" dirty="0">
                <a:solidFill>
                  <a:srgbClr val="333333"/>
                </a:solidFill>
                <a:effectLst/>
                <a:latin typeface="PingFang SC"/>
              </a:rPr>
              <a:t>面向对象是把构成问题事务分解成各个对象，建立对象的目的不是为了完成一个步骤，而是为了描叙某个事物在整个解决问题的步骤中的行为。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15904"/>
            <a:ext cx="4304715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3597" y="223340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第三部分</a:t>
            </a:r>
          </a:p>
        </p:txBody>
      </p:sp>
      <p:sp>
        <p:nvSpPr>
          <p:cNvPr id="4" name="TextBox 23"/>
          <p:cNvSpPr txBox="1"/>
          <p:nvPr/>
        </p:nvSpPr>
        <p:spPr>
          <a:xfrm>
            <a:off x="5723592" y="2451150"/>
            <a:ext cx="95090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封装</a:t>
            </a:r>
          </a:p>
        </p:txBody>
      </p:sp>
      <p:sp>
        <p:nvSpPr>
          <p:cNvPr id="5" name="TextBox 24"/>
          <p:cNvSpPr txBox="1"/>
          <p:nvPr/>
        </p:nvSpPr>
        <p:spPr>
          <a:xfrm>
            <a:off x="5723592" y="2887704"/>
            <a:ext cx="95090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多态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486234" y="1716048"/>
            <a:ext cx="3775393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  <a:cs typeface="+mn-ea"/>
                <a:sym typeface="+mn-lt"/>
              </a:rPr>
              <a:t>面向对象的特征</a:t>
            </a:r>
          </a:p>
        </p:txBody>
      </p:sp>
      <p:sp>
        <p:nvSpPr>
          <p:cNvPr id="8" name="矩形 7"/>
          <p:cNvSpPr/>
          <p:nvPr/>
        </p:nvSpPr>
        <p:spPr>
          <a:xfrm>
            <a:off x="4403189" y="1815904"/>
            <a:ext cx="407963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9" name="TextBox 23"/>
          <p:cNvSpPr txBox="1"/>
          <p:nvPr/>
        </p:nvSpPr>
        <p:spPr>
          <a:xfrm>
            <a:off x="8553520" y="2496494"/>
            <a:ext cx="95090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继承</a:t>
            </a:r>
          </a:p>
        </p:txBody>
      </p:sp>
      <p:sp>
        <p:nvSpPr>
          <p:cNvPr id="12" name="矩形 11"/>
          <p:cNvSpPr/>
          <p:nvPr/>
        </p:nvSpPr>
        <p:spPr>
          <a:xfrm>
            <a:off x="6277662" y="3484667"/>
            <a:ext cx="5914338" cy="2101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solidFill>
                <a:schemeClr val="tx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7" grpId="0"/>
      <p:bldP spid="8" grpId="0" animBg="1"/>
      <p:bldP spid="9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封装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01040" y="2274838"/>
            <a:ext cx="10789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我们平时所用的方法和类都是一种封装，当我们在项目开发中，遇到一段功能的代码在好多地方重复使用的时候，我们可以把他单独封装成一个功能的方法，这样在我们需要使用的地方直接调用就可以了。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继承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78180" y="2828835"/>
            <a:ext cx="10835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继承在我们的项目开发中主要使用为子类继承父类，下面是</a:t>
            </a:r>
            <a:r>
              <a:rPr lang="en-US" altLang="zh-CN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es6</a:t>
            </a:r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继承的书写方法</a:t>
            </a:r>
            <a:endParaRPr lang="zh-CN" altLang="en-US" sz="3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多态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78180" y="1443841"/>
            <a:ext cx="108356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多态的具体表现为方法重载和方法重写：</a:t>
            </a:r>
          </a:p>
          <a:p>
            <a:pPr algn="l"/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方法重载：重载是指不同的函数使用相同的函数名，但是函数的参数个数或类型不同。调用的时候根据函数的参数来区别不同的函数</a:t>
            </a:r>
          </a:p>
          <a:p>
            <a:pPr algn="l"/>
            <a:r>
              <a:rPr lang="zh-CN" alt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方法重写：重写（也叫覆盖）是指在派生类中重新对基类中的虚函数（注意是虚函数）重新实现。即函数名和参数都一样，只是函数的实现体不一样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15904"/>
            <a:ext cx="4304715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3597" y="2233407"/>
            <a:ext cx="2236510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第四部分</a:t>
            </a:r>
          </a:p>
        </p:txBody>
      </p:sp>
      <p:sp>
        <p:nvSpPr>
          <p:cNvPr id="4" name="TextBox 23"/>
          <p:cNvSpPr txBox="1"/>
          <p:nvPr/>
        </p:nvSpPr>
        <p:spPr>
          <a:xfrm>
            <a:off x="5723592" y="2451150"/>
            <a:ext cx="95090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数组</a:t>
            </a:r>
          </a:p>
        </p:txBody>
      </p:sp>
      <p:sp>
        <p:nvSpPr>
          <p:cNvPr id="5" name="TextBox 24"/>
          <p:cNvSpPr txBox="1"/>
          <p:nvPr/>
        </p:nvSpPr>
        <p:spPr>
          <a:xfrm>
            <a:off x="5723592" y="2887704"/>
            <a:ext cx="2145139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数组和对象区别</a:t>
            </a:r>
          </a:p>
        </p:txBody>
      </p:sp>
      <p:sp>
        <p:nvSpPr>
          <p:cNvPr id="6" name="TextBox 25"/>
          <p:cNvSpPr txBox="1"/>
          <p:nvPr/>
        </p:nvSpPr>
        <p:spPr>
          <a:xfrm>
            <a:off x="5723594" y="3354560"/>
            <a:ext cx="1667444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添加小标题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01319" y="1656064"/>
            <a:ext cx="4288354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  <a:cs typeface="+mn-ea"/>
                <a:sym typeface="+mn-lt"/>
              </a:rPr>
              <a:t>对象和数组的区别</a:t>
            </a:r>
          </a:p>
        </p:txBody>
      </p:sp>
      <p:sp>
        <p:nvSpPr>
          <p:cNvPr id="8" name="矩形 7"/>
          <p:cNvSpPr/>
          <p:nvPr/>
        </p:nvSpPr>
        <p:spPr>
          <a:xfrm>
            <a:off x="4403189" y="1815904"/>
            <a:ext cx="407963" cy="15840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9" name="TextBox 23"/>
          <p:cNvSpPr txBox="1"/>
          <p:nvPr/>
        </p:nvSpPr>
        <p:spPr>
          <a:xfrm>
            <a:off x="8553520" y="2496494"/>
            <a:ext cx="95090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对象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8553520" y="2933048"/>
            <a:ext cx="1667444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添加小标题</a:t>
            </a:r>
          </a:p>
        </p:txBody>
      </p:sp>
      <p:sp>
        <p:nvSpPr>
          <p:cNvPr id="11" name="TextBox 25"/>
          <p:cNvSpPr txBox="1"/>
          <p:nvPr/>
        </p:nvSpPr>
        <p:spPr>
          <a:xfrm>
            <a:off x="8553522" y="3399904"/>
            <a:ext cx="1667444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65" dirty="0">
                <a:solidFill>
                  <a:schemeClr val="tx2"/>
                </a:solidFill>
                <a:cs typeface="+mn-ea"/>
                <a:sym typeface="+mn-lt"/>
              </a:rPr>
              <a:t>添加小标题</a:t>
            </a:r>
          </a:p>
        </p:txBody>
      </p:sp>
      <p:sp>
        <p:nvSpPr>
          <p:cNvPr id="12" name="矩形 11"/>
          <p:cNvSpPr/>
          <p:nvPr/>
        </p:nvSpPr>
        <p:spPr>
          <a:xfrm>
            <a:off x="6278881" y="4028957"/>
            <a:ext cx="5914338" cy="2101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solidFill>
                <a:schemeClr val="tx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数组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27" y="899160"/>
            <a:ext cx="5417945" cy="571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对象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580"/>
          <a:stretch>
            <a:fillRect/>
          </a:stretch>
        </p:blipFill>
        <p:spPr>
          <a:xfrm>
            <a:off x="1249680" y="963546"/>
            <a:ext cx="8339202" cy="4930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数组和对象的区别</a:t>
            </a:r>
          </a:p>
        </p:txBody>
      </p:sp>
      <p:sp>
        <p:nvSpPr>
          <p:cNvPr id="54" name="矩形 53"/>
          <p:cNvSpPr/>
          <p:nvPr/>
        </p:nvSpPr>
        <p:spPr>
          <a:xfrm>
            <a:off x="1114023" y="2890391"/>
            <a:ext cx="996395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数组表示有序数据的集合，而对象表示无序数据的集合。如果数据的顺序很重要，就用数组，否则就用对象。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511216" y="3614523"/>
            <a:ext cx="5188843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6453834" y="1270599"/>
            <a:ext cx="3975501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10900" cap="all" dirty="0">
                <a:solidFill>
                  <a:srgbClr val="4426A0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2020</a:t>
            </a:r>
            <a:endParaRPr lang="zh-CN" altLang="en-US" sz="10900" cap="all" dirty="0">
              <a:solidFill>
                <a:srgbClr val="4426A0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728152" y="3720665"/>
            <a:ext cx="4519420" cy="355997"/>
            <a:chOff x="7400823" y="5164134"/>
            <a:chExt cx="4766583" cy="375465"/>
          </a:xfrm>
          <a:solidFill>
            <a:srgbClr val="0170C1"/>
          </a:solidFill>
        </p:grpSpPr>
        <p:grpSp>
          <p:nvGrpSpPr>
            <p:cNvPr id="8" name="组合 7"/>
            <p:cNvGrpSpPr/>
            <p:nvPr/>
          </p:nvGrpSpPr>
          <p:grpSpPr>
            <a:xfrm>
              <a:off x="7400823" y="5264605"/>
              <a:ext cx="217176" cy="217176"/>
              <a:chOff x="6562677" y="5316612"/>
              <a:chExt cx="458864" cy="458864"/>
            </a:xfrm>
            <a:grpFill/>
          </p:grpSpPr>
          <p:sp>
            <p:nvSpPr>
              <p:cNvPr id="14" name="椭圆 13"/>
              <p:cNvSpPr/>
              <p:nvPr/>
            </p:nvSpPr>
            <p:spPr>
              <a:xfrm>
                <a:off x="6562677" y="5316612"/>
                <a:ext cx="458864" cy="458864"/>
              </a:xfrm>
              <a:prstGeom prst="ellipse">
                <a:avLst/>
              </a:prstGeom>
              <a:solidFill>
                <a:srgbClr val="B48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0" dirty="0">
                    <a:solidFill>
                      <a:srgbClr val="4426A0"/>
                    </a:solidFill>
                    <a:cs typeface="+mn-ea"/>
                    <a:sym typeface="+mn-lt"/>
                  </a:rPr>
                  <a:t> </a:t>
                </a:r>
                <a:endParaRPr lang="zh-CN" altLang="en-US" sz="4000" dirty="0">
                  <a:solidFill>
                    <a:srgbClr val="4426A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61"/>
              <p:cNvSpPr>
                <a:spLocks noChangeArrowheads="1"/>
              </p:cNvSpPr>
              <p:nvPr/>
            </p:nvSpPr>
            <p:spPr bwMode="auto">
              <a:xfrm>
                <a:off x="6686102" y="5393131"/>
                <a:ext cx="212014" cy="305826"/>
              </a:xfrm>
              <a:custGeom>
                <a:avLst/>
                <a:gdLst>
                  <a:gd name="T0" fmla="*/ 54282578 w 418"/>
                  <a:gd name="T1" fmla="*/ 36023527 h 602"/>
                  <a:gd name="T2" fmla="*/ 54282578 w 418"/>
                  <a:gd name="T3" fmla="*/ 36023527 h 602"/>
                  <a:gd name="T4" fmla="*/ 30330731 w 418"/>
                  <a:gd name="T5" fmla="*/ 62649550 h 602"/>
                  <a:gd name="T6" fmla="*/ 30330731 w 418"/>
                  <a:gd name="T7" fmla="*/ 71002968 h 602"/>
                  <a:gd name="T8" fmla="*/ 43217666 w 418"/>
                  <a:gd name="T9" fmla="*/ 71002968 h 602"/>
                  <a:gd name="T10" fmla="*/ 46862795 w 418"/>
                  <a:gd name="T11" fmla="*/ 74657633 h 602"/>
                  <a:gd name="T12" fmla="*/ 43217666 w 418"/>
                  <a:gd name="T13" fmla="*/ 78442719 h 602"/>
                  <a:gd name="T14" fmla="*/ 26685603 w 418"/>
                  <a:gd name="T15" fmla="*/ 78442719 h 602"/>
                  <a:gd name="T16" fmla="*/ 11064912 w 418"/>
                  <a:gd name="T17" fmla="*/ 78442719 h 602"/>
                  <a:gd name="T18" fmla="*/ 7289896 w 418"/>
                  <a:gd name="T19" fmla="*/ 74657633 h 602"/>
                  <a:gd name="T20" fmla="*/ 11064912 w 418"/>
                  <a:gd name="T21" fmla="*/ 71002968 h 602"/>
                  <a:gd name="T22" fmla="*/ 23040835 w 418"/>
                  <a:gd name="T23" fmla="*/ 71002968 h 602"/>
                  <a:gd name="T24" fmla="*/ 23040835 w 418"/>
                  <a:gd name="T25" fmla="*/ 62649550 h 602"/>
                  <a:gd name="T26" fmla="*/ 0 w 418"/>
                  <a:gd name="T27" fmla="*/ 36023527 h 602"/>
                  <a:gd name="T28" fmla="*/ 0 w 418"/>
                  <a:gd name="T29" fmla="*/ 36023527 h 602"/>
                  <a:gd name="T30" fmla="*/ 0 w 418"/>
                  <a:gd name="T31" fmla="*/ 36023527 h 602"/>
                  <a:gd name="T32" fmla="*/ 3644768 w 418"/>
                  <a:gd name="T33" fmla="*/ 32238441 h 602"/>
                  <a:gd name="T34" fmla="*/ 7289896 w 418"/>
                  <a:gd name="T35" fmla="*/ 36023527 h 602"/>
                  <a:gd name="T36" fmla="*/ 7289896 w 418"/>
                  <a:gd name="T37" fmla="*/ 36023527 h 602"/>
                  <a:gd name="T38" fmla="*/ 26685603 w 418"/>
                  <a:gd name="T39" fmla="*/ 55340580 h 602"/>
                  <a:gd name="T40" fmla="*/ 46862795 w 418"/>
                  <a:gd name="T41" fmla="*/ 36023527 h 602"/>
                  <a:gd name="T42" fmla="*/ 46862795 w 418"/>
                  <a:gd name="T43" fmla="*/ 36023527 h 602"/>
                  <a:gd name="T44" fmla="*/ 50637810 w 418"/>
                  <a:gd name="T45" fmla="*/ 32238441 h 602"/>
                  <a:gd name="T46" fmla="*/ 54282578 w 418"/>
                  <a:gd name="T47" fmla="*/ 36023527 h 602"/>
                  <a:gd name="T48" fmla="*/ 26685603 w 418"/>
                  <a:gd name="T49" fmla="*/ 48814495 h 602"/>
                  <a:gd name="T50" fmla="*/ 26685603 w 418"/>
                  <a:gd name="T51" fmla="*/ 48814495 h 602"/>
                  <a:gd name="T52" fmla="*/ 26685603 w 418"/>
                  <a:gd name="T53" fmla="*/ 48814495 h 602"/>
                  <a:gd name="T54" fmla="*/ 11975923 w 418"/>
                  <a:gd name="T55" fmla="*/ 34065774 h 602"/>
                  <a:gd name="T56" fmla="*/ 11975923 w 418"/>
                  <a:gd name="T57" fmla="*/ 14748721 h 602"/>
                  <a:gd name="T58" fmla="*/ 26685603 w 418"/>
                  <a:gd name="T59" fmla="*/ 0 h 602"/>
                  <a:gd name="T60" fmla="*/ 26685603 w 418"/>
                  <a:gd name="T61" fmla="*/ 0 h 602"/>
                  <a:gd name="T62" fmla="*/ 41395282 w 418"/>
                  <a:gd name="T63" fmla="*/ 14748721 h 602"/>
                  <a:gd name="T64" fmla="*/ 41395282 w 418"/>
                  <a:gd name="T65" fmla="*/ 34065774 h 602"/>
                  <a:gd name="T66" fmla="*/ 26685603 w 418"/>
                  <a:gd name="T67" fmla="*/ 48814495 h 60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18" h="602">
                    <a:moveTo>
                      <a:pt x="417" y="276"/>
                    </a:moveTo>
                    <a:lnTo>
                      <a:pt x="417" y="276"/>
                    </a:lnTo>
                    <a:cubicBezTo>
                      <a:pt x="417" y="382"/>
                      <a:pt x="339" y="466"/>
                      <a:pt x="233" y="480"/>
                    </a:cubicBezTo>
                    <a:cubicBezTo>
                      <a:pt x="233" y="544"/>
                      <a:pt x="233" y="544"/>
                      <a:pt x="233" y="544"/>
                    </a:cubicBezTo>
                    <a:cubicBezTo>
                      <a:pt x="332" y="544"/>
                      <a:pt x="332" y="544"/>
                      <a:pt x="332" y="544"/>
                    </a:cubicBezTo>
                    <a:cubicBezTo>
                      <a:pt x="346" y="544"/>
                      <a:pt x="360" y="558"/>
                      <a:pt x="360" y="572"/>
                    </a:cubicBezTo>
                    <a:cubicBezTo>
                      <a:pt x="360" y="594"/>
                      <a:pt x="346" y="601"/>
                      <a:pt x="332" y="601"/>
                    </a:cubicBezTo>
                    <a:cubicBezTo>
                      <a:pt x="205" y="601"/>
                      <a:pt x="205" y="601"/>
                      <a:pt x="205" y="601"/>
                    </a:cubicBezTo>
                    <a:cubicBezTo>
                      <a:pt x="85" y="601"/>
                      <a:pt x="85" y="601"/>
                      <a:pt x="85" y="601"/>
                    </a:cubicBezTo>
                    <a:cubicBezTo>
                      <a:pt x="71" y="601"/>
                      <a:pt x="56" y="594"/>
                      <a:pt x="56" y="572"/>
                    </a:cubicBezTo>
                    <a:cubicBezTo>
                      <a:pt x="56" y="558"/>
                      <a:pt x="71" y="544"/>
                      <a:pt x="85" y="544"/>
                    </a:cubicBezTo>
                    <a:cubicBezTo>
                      <a:pt x="177" y="544"/>
                      <a:pt x="177" y="544"/>
                      <a:pt x="177" y="544"/>
                    </a:cubicBezTo>
                    <a:cubicBezTo>
                      <a:pt x="177" y="480"/>
                      <a:pt x="177" y="480"/>
                      <a:pt x="177" y="480"/>
                    </a:cubicBezTo>
                    <a:cubicBezTo>
                      <a:pt x="78" y="466"/>
                      <a:pt x="0" y="382"/>
                      <a:pt x="0" y="276"/>
                    </a:cubicBezTo>
                    <a:cubicBezTo>
                      <a:pt x="0" y="254"/>
                      <a:pt x="14" y="247"/>
                      <a:pt x="28" y="247"/>
                    </a:cubicBezTo>
                    <a:cubicBezTo>
                      <a:pt x="42" y="247"/>
                      <a:pt x="56" y="254"/>
                      <a:pt x="56" y="276"/>
                    </a:cubicBezTo>
                    <a:cubicBezTo>
                      <a:pt x="56" y="353"/>
                      <a:pt x="127" y="424"/>
                      <a:pt x="205" y="424"/>
                    </a:cubicBezTo>
                    <a:cubicBezTo>
                      <a:pt x="290" y="424"/>
                      <a:pt x="360" y="353"/>
                      <a:pt x="360" y="276"/>
                    </a:cubicBezTo>
                    <a:cubicBezTo>
                      <a:pt x="360" y="254"/>
                      <a:pt x="367" y="247"/>
                      <a:pt x="389" y="247"/>
                    </a:cubicBezTo>
                    <a:cubicBezTo>
                      <a:pt x="403" y="247"/>
                      <a:pt x="417" y="254"/>
                      <a:pt x="417" y="276"/>
                    </a:cubicBezTo>
                    <a:close/>
                    <a:moveTo>
                      <a:pt x="205" y="374"/>
                    </a:moveTo>
                    <a:lnTo>
                      <a:pt x="205" y="374"/>
                    </a:lnTo>
                    <a:cubicBezTo>
                      <a:pt x="141" y="374"/>
                      <a:pt x="92" y="325"/>
                      <a:pt x="92" y="261"/>
                    </a:cubicBezTo>
                    <a:cubicBezTo>
                      <a:pt x="92" y="113"/>
                      <a:pt x="92" y="113"/>
                      <a:pt x="92" y="113"/>
                    </a:cubicBezTo>
                    <a:cubicBezTo>
                      <a:pt x="92" y="49"/>
                      <a:pt x="141" y="0"/>
                      <a:pt x="205" y="0"/>
                    </a:cubicBezTo>
                    <a:cubicBezTo>
                      <a:pt x="269" y="0"/>
                      <a:pt x="318" y="49"/>
                      <a:pt x="318" y="113"/>
                    </a:cubicBezTo>
                    <a:cubicBezTo>
                      <a:pt x="318" y="261"/>
                      <a:pt x="318" y="261"/>
                      <a:pt x="318" y="261"/>
                    </a:cubicBezTo>
                    <a:cubicBezTo>
                      <a:pt x="318" y="325"/>
                      <a:pt x="269" y="374"/>
                      <a:pt x="205" y="37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4426A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9770687" y="5264605"/>
              <a:ext cx="217176" cy="217176"/>
              <a:chOff x="9298190" y="5316612"/>
              <a:chExt cx="458865" cy="458864"/>
            </a:xfrm>
            <a:grpFill/>
          </p:grpSpPr>
          <p:sp>
            <p:nvSpPr>
              <p:cNvPr id="12" name="椭圆 11"/>
              <p:cNvSpPr/>
              <p:nvPr/>
            </p:nvSpPr>
            <p:spPr>
              <a:xfrm>
                <a:off x="9298190" y="5316612"/>
                <a:ext cx="458865" cy="458864"/>
              </a:xfrm>
              <a:prstGeom prst="ellipse">
                <a:avLst/>
              </a:prstGeom>
              <a:solidFill>
                <a:srgbClr val="B48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0">
                  <a:solidFill>
                    <a:srgbClr val="4426A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66"/>
              <p:cNvSpPr>
                <a:spLocks noChangeArrowheads="1"/>
              </p:cNvSpPr>
              <p:nvPr/>
            </p:nvSpPr>
            <p:spPr bwMode="auto">
              <a:xfrm>
                <a:off x="9374747" y="5393132"/>
                <a:ext cx="305746" cy="305827"/>
              </a:xfrm>
              <a:custGeom>
                <a:avLst/>
                <a:gdLst>
                  <a:gd name="T0" fmla="*/ 43 w 454"/>
                  <a:gd name="T1" fmla="*/ 325 h 453"/>
                  <a:gd name="T2" fmla="*/ 43 w 454"/>
                  <a:gd name="T3" fmla="*/ 325 h 453"/>
                  <a:gd name="T4" fmla="*/ 283 w 454"/>
                  <a:gd name="T5" fmla="*/ 92 h 453"/>
                  <a:gd name="T6" fmla="*/ 361 w 454"/>
                  <a:gd name="T7" fmla="*/ 169 h 453"/>
                  <a:gd name="T8" fmla="*/ 127 w 454"/>
                  <a:gd name="T9" fmla="*/ 410 h 453"/>
                  <a:gd name="T10" fmla="*/ 43 w 454"/>
                  <a:gd name="T11" fmla="*/ 325 h 453"/>
                  <a:gd name="T12" fmla="*/ 361 w 454"/>
                  <a:gd name="T13" fmla="*/ 7 h 453"/>
                  <a:gd name="T14" fmla="*/ 361 w 454"/>
                  <a:gd name="T15" fmla="*/ 7 h 453"/>
                  <a:gd name="T16" fmla="*/ 403 w 454"/>
                  <a:gd name="T17" fmla="*/ 7 h 453"/>
                  <a:gd name="T18" fmla="*/ 446 w 454"/>
                  <a:gd name="T19" fmla="*/ 49 h 453"/>
                  <a:gd name="T20" fmla="*/ 446 w 454"/>
                  <a:gd name="T21" fmla="*/ 92 h 453"/>
                  <a:gd name="T22" fmla="*/ 382 w 454"/>
                  <a:gd name="T23" fmla="*/ 148 h 453"/>
                  <a:gd name="T24" fmla="*/ 304 w 454"/>
                  <a:gd name="T25" fmla="*/ 71 h 453"/>
                  <a:gd name="T26" fmla="*/ 361 w 454"/>
                  <a:gd name="T27" fmla="*/ 7 h 453"/>
                  <a:gd name="T28" fmla="*/ 0 w 454"/>
                  <a:gd name="T29" fmla="*/ 452 h 453"/>
                  <a:gd name="T30" fmla="*/ 0 w 454"/>
                  <a:gd name="T31" fmla="*/ 452 h 453"/>
                  <a:gd name="T32" fmla="*/ 22 w 454"/>
                  <a:gd name="T33" fmla="*/ 346 h 453"/>
                  <a:gd name="T34" fmla="*/ 106 w 454"/>
                  <a:gd name="T35" fmla="*/ 424 h 453"/>
                  <a:gd name="T36" fmla="*/ 0 w 454"/>
                  <a:gd name="T37" fmla="*/ 452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4" h="453">
                    <a:moveTo>
                      <a:pt x="43" y="325"/>
                    </a:moveTo>
                    <a:lnTo>
                      <a:pt x="43" y="325"/>
                    </a:lnTo>
                    <a:cubicBezTo>
                      <a:pt x="283" y="92"/>
                      <a:pt x="283" y="92"/>
                      <a:pt x="283" y="92"/>
                    </a:cubicBezTo>
                    <a:cubicBezTo>
                      <a:pt x="361" y="169"/>
                      <a:pt x="361" y="169"/>
                      <a:pt x="361" y="169"/>
                    </a:cubicBezTo>
                    <a:cubicBezTo>
                      <a:pt x="127" y="410"/>
                      <a:pt x="127" y="410"/>
                      <a:pt x="127" y="410"/>
                    </a:cubicBezTo>
                    <a:lnTo>
                      <a:pt x="43" y="325"/>
                    </a:lnTo>
                    <a:close/>
                    <a:moveTo>
                      <a:pt x="361" y="7"/>
                    </a:moveTo>
                    <a:lnTo>
                      <a:pt x="361" y="7"/>
                    </a:lnTo>
                    <a:cubicBezTo>
                      <a:pt x="375" y="0"/>
                      <a:pt x="389" y="0"/>
                      <a:pt x="403" y="7"/>
                    </a:cubicBezTo>
                    <a:cubicBezTo>
                      <a:pt x="446" y="49"/>
                      <a:pt x="446" y="49"/>
                      <a:pt x="446" y="49"/>
                    </a:cubicBezTo>
                    <a:cubicBezTo>
                      <a:pt x="453" y="64"/>
                      <a:pt x="453" y="78"/>
                      <a:pt x="446" y="92"/>
                    </a:cubicBezTo>
                    <a:cubicBezTo>
                      <a:pt x="382" y="148"/>
                      <a:pt x="382" y="148"/>
                      <a:pt x="382" y="148"/>
                    </a:cubicBezTo>
                    <a:cubicBezTo>
                      <a:pt x="304" y="71"/>
                      <a:pt x="304" y="71"/>
                      <a:pt x="304" y="71"/>
                    </a:cubicBezTo>
                    <a:lnTo>
                      <a:pt x="361" y="7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cubicBezTo>
                      <a:pt x="22" y="346"/>
                      <a:pt x="22" y="346"/>
                      <a:pt x="22" y="346"/>
                    </a:cubicBezTo>
                    <a:cubicBezTo>
                      <a:pt x="106" y="424"/>
                      <a:pt x="106" y="424"/>
                      <a:pt x="106" y="424"/>
                    </a:cubicBezTo>
                    <a:lnTo>
                      <a:pt x="0" y="45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4426A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710129" y="5178202"/>
              <a:ext cx="1599239" cy="361397"/>
            </a:xfrm>
            <a:prstGeom prst="rect">
              <a:avLst/>
            </a:prstGeom>
            <a:noFill/>
          </p:spPr>
          <p:txBody>
            <a:bodyPr wrap="none" lIns="65024" tIns="32512" rIns="65024" bIns="32512">
              <a:spAutoFit/>
            </a:bodyPr>
            <a:lstStyle/>
            <a:p>
              <a:r>
                <a:rPr lang="zh-CN" altLang="en-US" cap="all" dirty="0">
                  <a:solidFill>
                    <a:srgbClr val="4426A0"/>
                  </a:solidFill>
                  <a:cs typeface="+mn-ea"/>
                  <a:sym typeface="+mn-lt"/>
                </a:rPr>
                <a:t>汇报人：李维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952763" y="5164134"/>
              <a:ext cx="2214643" cy="361397"/>
            </a:xfrm>
            <a:prstGeom prst="rect">
              <a:avLst/>
            </a:prstGeom>
            <a:noFill/>
          </p:spPr>
          <p:txBody>
            <a:bodyPr wrap="none" lIns="65024" tIns="32512" rIns="65024" bIns="32512">
              <a:spAutoFit/>
            </a:bodyPr>
            <a:lstStyle/>
            <a:p>
              <a:r>
                <a:rPr lang="zh-CN" altLang="en-US" cap="all" dirty="0">
                  <a:solidFill>
                    <a:srgbClr val="4426A0"/>
                  </a:solidFill>
                  <a:cs typeface="+mn-ea"/>
                  <a:sym typeface="+mn-lt"/>
                </a:rPr>
                <a:t>时间：</a:t>
              </a:r>
              <a:r>
                <a:rPr lang="en-US" altLang="zh-CN" cap="all" dirty="0">
                  <a:solidFill>
                    <a:srgbClr val="4426A0"/>
                  </a:solidFill>
                  <a:cs typeface="+mn-ea"/>
                  <a:sym typeface="+mn-lt"/>
                </a:rPr>
                <a:t>2020-09-30</a:t>
              </a:r>
              <a:endParaRPr lang="zh-CN" altLang="en-US" cap="all" dirty="0">
                <a:solidFill>
                  <a:srgbClr val="4426A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TextBox 10"/>
          <p:cNvSpPr txBox="1"/>
          <p:nvPr/>
        </p:nvSpPr>
        <p:spPr>
          <a:xfrm>
            <a:off x="6345123" y="2731676"/>
            <a:ext cx="3978525" cy="988989"/>
          </a:xfrm>
          <a:prstGeom prst="rect">
            <a:avLst/>
          </a:prstGeom>
          <a:noFill/>
        </p:spPr>
        <p:txBody>
          <a:bodyPr wrap="none" lIns="65024" tIns="32512" rIns="65024" bIns="32512">
            <a:spAutoFit/>
          </a:bodyPr>
          <a:lstStyle/>
          <a:p>
            <a:r>
              <a:rPr lang="zh-CN" altLang="en-US" sz="6000" cap="all" dirty="0">
                <a:solidFill>
                  <a:srgbClr val="4426A0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谢谢观看！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7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7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第一PPT，www.1ppt.com">
  <a:themeElements>
    <a:clrScheme name="自定义 1459">
      <a:dk1>
        <a:sysClr val="windowText" lastClr="000000"/>
      </a:dk1>
      <a:lt1>
        <a:sysClr val="window" lastClr="FFFFFF"/>
      </a:lt1>
      <a:dk2>
        <a:srgbClr val="4426A0"/>
      </a:dk2>
      <a:lt2>
        <a:srgbClr val="B48CFE"/>
      </a:lt2>
      <a:accent1>
        <a:srgbClr val="B48CFE"/>
      </a:accent1>
      <a:accent2>
        <a:srgbClr val="4426A0"/>
      </a:accent2>
      <a:accent3>
        <a:srgbClr val="B48CFE"/>
      </a:accent3>
      <a:accent4>
        <a:srgbClr val="4426A0"/>
      </a:accent4>
      <a:accent5>
        <a:srgbClr val="B48CFE"/>
      </a:accent5>
      <a:accent6>
        <a:srgbClr val="4426A0"/>
      </a:accent6>
      <a:hlink>
        <a:srgbClr val="0563C1"/>
      </a:hlink>
      <a:folHlink>
        <a:srgbClr val="954F72"/>
      </a:folHlink>
    </a:clrScheme>
    <a:fontScheme name="jagei13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宽屏</PresentationFormat>
  <Paragraphs>100</Paragraphs>
  <Slides>19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PingFang SC</vt:lpstr>
      <vt:lpstr>PingFangSC-Regular</vt:lpstr>
      <vt:lpstr>方正细谭黑简体</vt:lpstr>
      <vt:lpstr>微软雅黑</vt:lpstr>
      <vt:lpstr>Arial</vt:lpstr>
      <vt:lpstr>Calibri</vt:lpstr>
      <vt:lpstr>Verdana</vt:lpstr>
      <vt:lpstr>Wingdings</vt:lpstr>
      <vt:lpstr>第一PPT，www.1ppt.com</vt:lpstr>
      <vt:lpstr>PowerPoint 演示文稿</vt:lpstr>
      <vt:lpstr>PowerPoint 演示文稿</vt:lpstr>
      <vt:lpstr>PowerPoint 演示文稿</vt:lpstr>
      <vt:lpstr>js对象是什么</vt:lpstr>
      <vt:lpstr>BOM对象</vt:lpstr>
      <vt:lpstr>DOM对象</vt:lpstr>
      <vt:lpstr>内置对象</vt:lpstr>
      <vt:lpstr>PowerPoint 演示文稿</vt:lpstr>
      <vt:lpstr>面向过程的编程思想</vt:lpstr>
      <vt:lpstr>面向对象的编程思想</vt:lpstr>
      <vt:lpstr>PowerPoint 演示文稿</vt:lpstr>
      <vt:lpstr>封装</vt:lpstr>
      <vt:lpstr>继承</vt:lpstr>
      <vt:lpstr>多态</vt:lpstr>
      <vt:lpstr>PowerPoint 演示文稿</vt:lpstr>
      <vt:lpstr>数组</vt:lpstr>
      <vt:lpstr>对象</vt:lpstr>
      <vt:lpstr>数组和对象的区别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紫色优雅曲线</dc:title>
  <dc:creator>第一PPT</dc:creator>
  <cp:keywords>www.1ppt.com</cp:keywords>
  <dc:description>www.1ppt.com</dc:description>
  <cp:lastModifiedBy>崔 子杰</cp:lastModifiedBy>
  <cp:revision>46</cp:revision>
  <dcterms:created xsi:type="dcterms:W3CDTF">2015-05-05T08:02:00Z</dcterms:created>
  <dcterms:modified xsi:type="dcterms:W3CDTF">2020-09-30T07:54:06Z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