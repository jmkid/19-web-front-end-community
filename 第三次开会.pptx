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56" r:id="rId2"/>
    <p:sldId id="371" r:id="rId3"/>
    <p:sldId id="372" r:id="rId4"/>
    <p:sldId id="368" r:id="rId5"/>
    <p:sldId id="321" r:id="rId6"/>
    <p:sldId id="369" r:id="rId7"/>
    <p:sldId id="362" r:id="rId8"/>
    <p:sldId id="320" r:id="rId9"/>
    <p:sldId id="352" r:id="rId10"/>
    <p:sldId id="367" r:id="rId11"/>
    <p:sldId id="363" r:id="rId12"/>
    <p:sldId id="364" r:id="rId13"/>
    <p:sldId id="318" r:id="rId14"/>
  </p:sldIdLst>
  <p:sldSz cx="9144000" cy="5143500" type="screen16x9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5F5C5C"/>
    <a:srgbClr val="888382"/>
    <a:srgbClr val="4F4E4E"/>
    <a:srgbClr val="663F2E"/>
    <a:srgbClr val="768EA9"/>
    <a:srgbClr val="508CC2"/>
    <a:srgbClr val="2E75B5"/>
    <a:srgbClr val="0069B8"/>
    <a:srgbClr val="0056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02" autoAdjust="0"/>
    <p:restoredTop sz="94660" autoAdjust="0"/>
  </p:normalViewPr>
  <p:slideViewPr>
    <p:cSldViewPr>
      <p:cViewPr varScale="1">
        <p:scale>
          <a:sx n="77" d="100"/>
          <a:sy n="77" d="100"/>
        </p:scale>
        <p:origin x="139" y="1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>
                <a:ea typeface="微软雅黑" panose="020B0503020204020204" pitchFamily="34" charset="-122"/>
              </a:rPr>
              <a:t>2020/10/7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3844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A2B73EA-EE91-4E33-A9C1-8BF5DD7139A2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7392B679-AE23-4750-8FB0-6513430B895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9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53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64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767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126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93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218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503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493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367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378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219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20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89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11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2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2020/10/7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hyperlink" Target="https://github.com/bxm0927/canvas-special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02D772B-8ADE-4B4F-B6A7-8D2025349E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2294788" y="50967"/>
            <a:ext cx="6855716" cy="599634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8587EE6-0E7B-440D-A07C-EB547A7F3241}"/>
              </a:ext>
            </a:extLst>
          </p:cNvPr>
          <p:cNvSpPr/>
          <p:nvPr/>
        </p:nvSpPr>
        <p:spPr>
          <a:xfrm>
            <a:off x="2771801" y="1175722"/>
            <a:ext cx="410445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前端社区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0F22BCC6-7EEB-4EFD-86C5-E7D462329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91" y="2904896"/>
            <a:ext cx="453401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汇报人：崔子杰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汇报时间：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2020-10-7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AB4BB523-BD9B-45BC-AF5A-7300C2F11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309" y="2227788"/>
            <a:ext cx="453276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第三次开会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AC883BD-9700-4D04-81C8-EAEDEC04E4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5270267" y="-1506546"/>
            <a:ext cx="6855716" cy="599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7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>
            <a:extLst>
              <a:ext uri="{FF2B5EF4-FFF2-40B4-BE49-F238E27FC236}">
                <a16:creationId xmlns:a16="http://schemas.microsoft.com/office/drawing/2014/main" id="{45AA4F29-A6B8-4CD7-8F1A-5F9C10E90038}"/>
              </a:ext>
            </a:extLst>
          </p:cNvPr>
          <p:cNvSpPr/>
          <p:nvPr/>
        </p:nvSpPr>
        <p:spPr>
          <a:xfrm>
            <a:off x="539353" y="842964"/>
            <a:ext cx="1980419" cy="374451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/>
          </a:p>
        </p:txBody>
      </p:sp>
      <p:sp>
        <p:nvSpPr>
          <p:cNvPr id="5" name="Right Triangle 2">
            <a:extLst>
              <a:ext uri="{FF2B5EF4-FFF2-40B4-BE49-F238E27FC236}">
                <a16:creationId xmlns:a16="http://schemas.microsoft.com/office/drawing/2014/main" id="{8A95A1F8-37FD-46A1-938E-5B6727148222}"/>
              </a:ext>
            </a:extLst>
          </p:cNvPr>
          <p:cNvSpPr/>
          <p:nvPr/>
        </p:nvSpPr>
        <p:spPr bwMode="auto">
          <a:xfrm flipH="1" flipV="1">
            <a:off x="539353" y="842963"/>
            <a:ext cx="1980419" cy="1754306"/>
          </a:xfrm>
          <a:prstGeom prst="rtTriangle">
            <a:avLst/>
          </a:prstGeom>
          <a:solidFill>
            <a:schemeClr val="tx2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BF31707-B0A9-4075-A49E-1CD8BDC53B03}"/>
              </a:ext>
            </a:extLst>
          </p:cNvPr>
          <p:cNvSpPr txBox="1"/>
          <p:nvPr/>
        </p:nvSpPr>
        <p:spPr>
          <a:xfrm>
            <a:off x="2580846" y="849497"/>
            <a:ext cx="2106234" cy="461665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r>
              <a:rPr lang="zh-CN" altLang="en-US" sz="4000" b="1" dirty="0">
                <a:solidFill>
                  <a:schemeClr val="tx2"/>
                </a:solidFill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A818D59-61D3-4031-8376-8B9F7B2410EA}"/>
              </a:ext>
            </a:extLst>
          </p:cNvPr>
          <p:cNvSpPr txBox="1"/>
          <p:nvPr/>
        </p:nvSpPr>
        <p:spPr>
          <a:xfrm>
            <a:off x="4253893" y="1653631"/>
            <a:ext cx="285174" cy="530915"/>
          </a:xfrm>
          <a:prstGeom prst="rect">
            <a:avLst/>
          </a:prstGeom>
          <a:noFill/>
        </p:spPr>
        <p:txBody>
          <a:bodyPr wrap="none" anchor="ctr">
            <a:normAutofit fontScale="85000" lnSpcReduction="20000"/>
          </a:bodyPr>
          <a:lstStyle/>
          <a:p>
            <a:pPr algn="ctr"/>
            <a:r>
              <a:rPr lang="en-US" altLang="zh-CN" sz="4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01F4E37-D9A8-4271-A05E-7E1B7A9370F4}"/>
              </a:ext>
            </a:extLst>
          </p:cNvPr>
          <p:cNvSpPr txBox="1"/>
          <p:nvPr/>
        </p:nvSpPr>
        <p:spPr>
          <a:xfrm>
            <a:off x="4230449" y="2408833"/>
            <a:ext cx="332063" cy="530915"/>
          </a:xfrm>
          <a:prstGeom prst="rect">
            <a:avLst/>
          </a:prstGeom>
          <a:noFill/>
        </p:spPr>
        <p:txBody>
          <a:bodyPr wrap="none" anchor="ctr">
            <a:normAutofit fontScale="85000" lnSpcReduction="20000"/>
          </a:bodyPr>
          <a:lstStyle/>
          <a:p>
            <a:pPr algn="ctr"/>
            <a:r>
              <a:rPr lang="en-US" altLang="zh-CN" sz="4000" dirty="0">
                <a:solidFill>
                  <a:schemeClr val="accent2">
                    <a:lumMod val="10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5FE22B5-A71D-40C0-8D5A-9358F379C594}"/>
              </a:ext>
            </a:extLst>
          </p:cNvPr>
          <p:cNvSpPr txBox="1"/>
          <p:nvPr/>
        </p:nvSpPr>
        <p:spPr>
          <a:xfrm>
            <a:off x="4225039" y="3164034"/>
            <a:ext cx="342882" cy="530915"/>
          </a:xfrm>
          <a:prstGeom prst="rect">
            <a:avLst/>
          </a:prstGeom>
          <a:noFill/>
        </p:spPr>
        <p:txBody>
          <a:bodyPr wrap="none" anchor="ctr">
            <a:normAutofit fontScale="85000" lnSpcReduction="20000"/>
          </a:bodyPr>
          <a:lstStyle/>
          <a:p>
            <a:pPr algn="ctr"/>
            <a:r>
              <a:rPr lang="en-US" altLang="zh-CN" sz="4000" dirty="0">
                <a:solidFill>
                  <a:schemeClr val="accent3">
                    <a:lumMod val="10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2DBAD87-8AE9-4FBE-AD73-A805DE564C2F}"/>
              </a:ext>
            </a:extLst>
          </p:cNvPr>
          <p:cNvSpPr txBox="1"/>
          <p:nvPr/>
        </p:nvSpPr>
        <p:spPr>
          <a:xfrm>
            <a:off x="4231050" y="3919235"/>
            <a:ext cx="330860" cy="530915"/>
          </a:xfrm>
          <a:prstGeom prst="rect">
            <a:avLst/>
          </a:prstGeom>
          <a:noFill/>
        </p:spPr>
        <p:txBody>
          <a:bodyPr wrap="none" anchor="ctr">
            <a:normAutofit fontScale="85000" lnSpcReduction="20000"/>
          </a:bodyPr>
          <a:lstStyle/>
          <a:p>
            <a:pPr algn="ctr"/>
            <a:r>
              <a:rPr lang="en-US" altLang="zh-CN" sz="4000" dirty="0">
                <a:solidFill>
                  <a:schemeClr val="accent4">
                    <a:lumMod val="100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</a:p>
        </p:txBody>
      </p:sp>
      <p:grpSp>
        <p:nvGrpSpPr>
          <p:cNvPr id="12" name="Group 10">
            <a:extLst>
              <a:ext uri="{FF2B5EF4-FFF2-40B4-BE49-F238E27FC236}">
                <a16:creationId xmlns:a16="http://schemas.microsoft.com/office/drawing/2014/main" id="{2E05B855-B5DB-479D-AAB0-8795CE3C9269}"/>
              </a:ext>
            </a:extLst>
          </p:cNvPr>
          <p:cNvGrpSpPr/>
          <p:nvPr/>
        </p:nvGrpSpPr>
        <p:grpSpPr>
          <a:xfrm>
            <a:off x="4490991" y="1707877"/>
            <a:ext cx="2971931" cy="422424"/>
            <a:chOff x="3943834" y="704409"/>
            <a:chExt cx="3962574" cy="563232"/>
          </a:xfrm>
        </p:grpSpPr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BEB02227-E2E7-449D-8364-63A337B609E7}"/>
                </a:ext>
              </a:extLst>
            </p:cNvPr>
            <p:cNvSpPr txBox="1"/>
            <p:nvPr/>
          </p:nvSpPr>
          <p:spPr>
            <a:xfrm>
              <a:off x="3943834" y="704409"/>
              <a:ext cx="3962574" cy="24286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100000"/>
                    </a:schemeClr>
                  </a:solidFill>
                  <a:ea typeface="微软雅黑" panose="020B0503020204020204" pitchFamily="34" charset="-122"/>
                </a:rPr>
                <a:t>编译器的选择</a:t>
              </a:r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D986AF0E-294D-4630-B58F-41EB7F396614}"/>
                </a:ext>
              </a:extLst>
            </p:cNvPr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Hbuilder</a:t>
              </a: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、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vsCode</a:t>
              </a: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、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WebStorm</a:t>
              </a: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、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vs2019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C0DFEAF-FAC3-4DAD-84DF-B3C32C6FA4D5}"/>
              </a:ext>
            </a:extLst>
          </p:cNvPr>
          <p:cNvGrpSpPr/>
          <p:nvPr/>
        </p:nvGrpSpPr>
        <p:grpSpPr>
          <a:xfrm>
            <a:off x="4490991" y="2286740"/>
            <a:ext cx="3249361" cy="598762"/>
            <a:chOff x="3943834" y="469292"/>
            <a:chExt cx="4332481" cy="798349"/>
          </a:xfrm>
        </p:grpSpPr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F451451B-6B3C-42AD-877A-DDF4B3A9FF86}"/>
                </a:ext>
              </a:extLst>
            </p:cNvPr>
            <p:cNvSpPr txBox="1"/>
            <p:nvPr/>
          </p:nvSpPr>
          <p:spPr>
            <a:xfrm>
              <a:off x="3943834" y="469292"/>
              <a:ext cx="4332481" cy="477981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endParaRPr lang="zh-CN" altLang="en-US" sz="1600" b="1" dirty="0">
                <a:solidFill>
                  <a:schemeClr val="accent2">
                    <a:lumMod val="100000"/>
                  </a:schemeClr>
                </a:solidFill>
                <a:ea typeface="微软雅黑" panose="020B0503020204020204" pitchFamily="34" charset="-122"/>
              </a:endParaRPr>
            </a:p>
            <a:p>
              <a:r>
                <a:rPr lang="en-US" altLang="zh-CN" sz="1600" b="1" dirty="0">
                  <a:solidFill>
                    <a:schemeClr val="accent2">
                      <a:lumMod val="100000"/>
                    </a:schemeClr>
                  </a:solidFill>
                  <a:ea typeface="微软雅黑" panose="020B0503020204020204" pitchFamily="34" charset="-122"/>
                </a:rPr>
                <a:t>Canvas</a:t>
              </a:r>
              <a:r>
                <a:rPr lang="zh-CN" altLang="en-US" sz="1600" b="1" dirty="0">
                  <a:solidFill>
                    <a:schemeClr val="accent2">
                      <a:lumMod val="100000"/>
                    </a:schemeClr>
                  </a:solidFill>
                  <a:ea typeface="微软雅黑" panose="020B0503020204020204" pitchFamily="34" charset="-122"/>
                </a:rPr>
                <a:t>、</a:t>
              </a:r>
              <a:r>
                <a:rPr lang="en-US" altLang="zh-CN" sz="1600" b="1" dirty="0">
                  <a:solidFill>
                    <a:schemeClr val="accent2">
                      <a:lumMod val="100000"/>
                    </a:schemeClr>
                  </a:solidFill>
                  <a:ea typeface="微软雅黑" panose="020B0503020204020204" pitchFamily="34" charset="-122"/>
                </a:rPr>
                <a:t>SVG</a:t>
              </a:r>
              <a:endParaRPr lang="zh-CN" altLang="en-US" sz="1600" b="1" dirty="0">
                <a:solidFill>
                  <a:schemeClr val="accent2">
                    <a:lumMod val="100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228782BA-910D-405A-9885-5039B69C5ACA}"/>
                </a:ext>
              </a:extLst>
            </p:cNvPr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77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此部分内容作为文字排版占位显示 （建议使用主题字体）</a:t>
              </a:r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A1EDF3D9-E4E3-4C14-BD43-35DD59F560B1}"/>
              </a:ext>
            </a:extLst>
          </p:cNvPr>
          <p:cNvGrpSpPr/>
          <p:nvPr/>
        </p:nvGrpSpPr>
        <p:grpSpPr>
          <a:xfrm>
            <a:off x="4490991" y="3218279"/>
            <a:ext cx="2971931" cy="422424"/>
            <a:chOff x="3943834" y="704409"/>
            <a:chExt cx="3962574" cy="5632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62A3B6-D6F6-416E-B2AD-7191F724D70A}"/>
                </a:ext>
              </a:extLst>
            </p:cNvPr>
            <p:cNvSpPr txBox="1"/>
            <p:nvPr/>
          </p:nvSpPr>
          <p:spPr>
            <a:xfrm>
              <a:off x="3943834" y="704409"/>
              <a:ext cx="3962574" cy="24286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en-US" altLang="zh-CN" sz="1600" b="1" dirty="0">
                  <a:solidFill>
                    <a:schemeClr val="accent3">
                      <a:lumMod val="100000"/>
                    </a:schemeClr>
                  </a:solidFill>
                  <a:ea typeface="微软雅黑" panose="020B0503020204020204" pitchFamily="34" charset="-122"/>
                </a:rPr>
                <a:t>Css</a:t>
              </a:r>
              <a:r>
                <a:rPr lang="zh-CN" altLang="en-US" sz="1600" b="1" dirty="0">
                  <a:solidFill>
                    <a:schemeClr val="accent3">
                      <a:lumMod val="100000"/>
                    </a:schemeClr>
                  </a:solidFill>
                  <a:ea typeface="微软雅黑" panose="020B0503020204020204" pitchFamily="34" charset="-122"/>
                </a:rPr>
                <a:t>扩展语言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CCB062-55CB-4762-9354-163D0B9FF350}"/>
                </a:ext>
              </a:extLst>
            </p:cNvPr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Less</a:t>
              </a: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、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Sass</a:t>
              </a: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、</a:t>
              </a: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Stylus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Group 19">
            <a:extLst>
              <a:ext uri="{FF2B5EF4-FFF2-40B4-BE49-F238E27FC236}">
                <a16:creationId xmlns:a16="http://schemas.microsoft.com/office/drawing/2014/main" id="{8F38DD29-A819-4167-8BEC-AC098CD847A7}"/>
              </a:ext>
            </a:extLst>
          </p:cNvPr>
          <p:cNvGrpSpPr/>
          <p:nvPr/>
        </p:nvGrpSpPr>
        <p:grpSpPr>
          <a:xfrm>
            <a:off x="4490991" y="3973480"/>
            <a:ext cx="2971931" cy="422424"/>
            <a:chOff x="3943834" y="704409"/>
            <a:chExt cx="3962574" cy="563232"/>
          </a:xfrm>
        </p:grpSpPr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F40E2A55-1F47-4827-BD8A-A1CC6C0FB558}"/>
                </a:ext>
              </a:extLst>
            </p:cNvPr>
            <p:cNvSpPr txBox="1"/>
            <p:nvPr/>
          </p:nvSpPr>
          <p:spPr>
            <a:xfrm>
              <a:off x="3943834" y="704409"/>
              <a:ext cx="3962574" cy="24286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 lnSpcReduction="20000"/>
            </a:bodyPr>
            <a:lstStyle/>
            <a:p>
              <a:r>
                <a:rPr lang="zh-CN" altLang="en-US" sz="1600" b="1" dirty="0">
                  <a:solidFill>
                    <a:schemeClr val="accent4">
                      <a:lumMod val="100000"/>
                    </a:schemeClr>
                  </a:solidFill>
                  <a:ea typeface="微软雅黑" panose="020B0503020204020204" pitchFamily="34" charset="-122"/>
                </a:rPr>
                <a:t>响应式布局</a:t>
              </a:r>
            </a:p>
          </p:txBody>
        </p:sp>
        <p:sp>
          <p:nvSpPr>
            <p:cNvPr id="17" name="TextBox 21">
              <a:extLst>
                <a:ext uri="{FF2B5EF4-FFF2-40B4-BE49-F238E27FC236}">
                  <a16:creationId xmlns:a16="http://schemas.microsoft.com/office/drawing/2014/main" id="{25548A1A-BEF5-421C-808B-508C21EA67C9}"/>
                </a:ext>
              </a:extLst>
            </p:cNvPr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050" dirty="0">
                  <a:solidFill>
                    <a:schemeClr val="dk1">
                      <a:lumMod val="100000"/>
                    </a:schemeClr>
                  </a:solidFill>
                  <a:ea typeface="微软雅黑" panose="020B0503020204020204" pitchFamily="34" charset="-122"/>
                </a:rPr>
                <a:t>响应式布局和自适应布局详解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627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4D62154-68EB-48CD-A66D-FF1A99FE2E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2294788" y="50967"/>
            <a:ext cx="6855716" cy="59963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D09CE11-7042-4354-97AB-A0B8A801B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5270267" y="-1506546"/>
            <a:ext cx="6855716" cy="599634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CEE929E-2C38-4D72-BA95-2BB41C2C132B}"/>
              </a:ext>
            </a:extLst>
          </p:cNvPr>
          <p:cNvSpPr/>
          <p:nvPr/>
        </p:nvSpPr>
        <p:spPr>
          <a:xfrm>
            <a:off x="4093793" y="1092512"/>
            <a:ext cx="10542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0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8000" spc="300" dirty="0">
              <a:solidFill>
                <a:schemeClr val="tx1">
                  <a:lumMod val="65000"/>
                  <a:lumOff val="35000"/>
                </a:schemeClr>
              </a:solidFill>
              <a:latin typeface="Agency FB" panose="020B0503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EE1BE6C4-0F0A-4C09-BE21-00CCBE418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756" y="2227788"/>
            <a:ext cx="439248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编译器的选择</a:t>
            </a:r>
          </a:p>
        </p:txBody>
      </p:sp>
    </p:spTree>
    <p:extLst>
      <p:ext uri="{BB962C8B-B14F-4D97-AF65-F5344CB8AC3E}">
        <p14:creationId xmlns:p14="http://schemas.microsoft.com/office/powerpoint/2010/main" val="408697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常用的编程软件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807C9275-B2A5-4736-A730-F66C81E35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4580479" y="36322"/>
            <a:ext cx="6855716" cy="5996349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875F6653-F360-49D8-BDE2-45161E97A6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187267" y="-2196181"/>
            <a:ext cx="6855716" cy="5996349"/>
          </a:xfrm>
          <a:prstGeom prst="rect">
            <a:avLst/>
          </a:prstGeom>
        </p:spPr>
      </p:pic>
      <p:grpSp>
        <p:nvGrpSpPr>
          <p:cNvPr id="69" name="组合 68">
            <a:extLst>
              <a:ext uri="{FF2B5EF4-FFF2-40B4-BE49-F238E27FC236}">
                <a16:creationId xmlns:a16="http://schemas.microsoft.com/office/drawing/2014/main" id="{D78ED1FC-7C57-4E8B-8D9C-A62E72C4A426}"/>
              </a:ext>
            </a:extLst>
          </p:cNvPr>
          <p:cNvGrpSpPr/>
          <p:nvPr/>
        </p:nvGrpSpPr>
        <p:grpSpPr>
          <a:xfrm>
            <a:off x="1572725" y="1041108"/>
            <a:ext cx="1462260" cy="1771298"/>
            <a:chOff x="1572725" y="1041108"/>
            <a:chExt cx="1462260" cy="177129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E1FE43F-7D00-4FB5-9E8E-60F9AAC8CB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2466" y="1041108"/>
              <a:ext cx="1082779" cy="1182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23FA24F-2B6C-4D84-8CFE-1F268A03B45E}"/>
                </a:ext>
              </a:extLst>
            </p:cNvPr>
            <p:cNvSpPr txBox="1"/>
            <p:nvPr/>
          </p:nvSpPr>
          <p:spPr>
            <a:xfrm>
              <a:off x="1572725" y="2350741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Hbuilder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042B8DE-1D14-45A0-B2D1-1DCC6799C51E}"/>
              </a:ext>
            </a:extLst>
          </p:cNvPr>
          <p:cNvGrpSpPr/>
          <p:nvPr/>
        </p:nvGrpSpPr>
        <p:grpSpPr>
          <a:xfrm>
            <a:off x="5178790" y="943227"/>
            <a:ext cx="1928627" cy="1891811"/>
            <a:chOff x="5178790" y="943227"/>
            <a:chExt cx="1928627" cy="1891811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3925724-D3FA-4E40-B5A3-F957D50D3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790" y="943227"/>
              <a:ext cx="1928627" cy="12806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84E0B0C9-784B-4220-827D-E5D24D074286}"/>
                </a:ext>
              </a:extLst>
            </p:cNvPr>
            <p:cNvSpPr txBox="1"/>
            <p:nvPr/>
          </p:nvSpPr>
          <p:spPr>
            <a:xfrm>
              <a:off x="5396918" y="2373373"/>
              <a:ext cx="12977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VsCode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0AA932A-80F9-43FA-88EE-5D7ED6D2229C}"/>
              </a:ext>
            </a:extLst>
          </p:cNvPr>
          <p:cNvGrpSpPr/>
          <p:nvPr/>
        </p:nvGrpSpPr>
        <p:grpSpPr>
          <a:xfrm>
            <a:off x="3419872" y="2919665"/>
            <a:ext cx="1741887" cy="2125471"/>
            <a:chOff x="3419872" y="2919665"/>
            <a:chExt cx="1741887" cy="2125471"/>
          </a:xfrm>
        </p:grpSpPr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7E515423-FC98-4FB6-A323-9F5DD159D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95214" y="2919665"/>
              <a:ext cx="1572219" cy="1535513"/>
            </a:xfrm>
            <a:prstGeom prst="rect">
              <a:avLst/>
            </a:prstGeom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6B96DA3F-F6BA-42A2-AF76-04EAE0852E77}"/>
                </a:ext>
              </a:extLst>
            </p:cNvPr>
            <p:cNvSpPr txBox="1"/>
            <p:nvPr/>
          </p:nvSpPr>
          <p:spPr>
            <a:xfrm>
              <a:off x="3419872" y="4583471"/>
              <a:ext cx="17418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WebStorm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252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BE1021D1-EB82-447B-8893-3D3A82C495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2294788" y="50967"/>
            <a:ext cx="6855716" cy="5996349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3478C2E1-9276-4EFD-A061-203CECAD46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5270267" y="-1506546"/>
            <a:ext cx="6855716" cy="599634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8576F878-D961-4975-B42B-95BEF48C727F}"/>
              </a:ext>
            </a:extLst>
          </p:cNvPr>
          <p:cNvSpPr/>
          <p:nvPr/>
        </p:nvSpPr>
        <p:spPr>
          <a:xfrm>
            <a:off x="4093793" y="1092512"/>
            <a:ext cx="26744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0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8000" spc="300" dirty="0">
              <a:solidFill>
                <a:schemeClr val="tx1">
                  <a:lumMod val="65000"/>
                  <a:lumOff val="35000"/>
                </a:schemeClr>
              </a:solidFill>
              <a:latin typeface="Agency FB" panose="020B0503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41ECE763-AED7-4F9D-B764-CA20B8789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756" y="2227788"/>
            <a:ext cx="439248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Canvas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Svg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556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00"/>
                            </p:stCondLst>
                            <p:childTnLst>
                              <p:par>
                                <p:cTn id="23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A35CF588-D099-41CE-96B9-64044F529E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187267" y="-2196181"/>
            <a:ext cx="6855716" cy="599634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B565A2D-4B70-421A-AA82-176ABA10EE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4580479" y="36322"/>
            <a:ext cx="6855716" cy="5996349"/>
          </a:xfrm>
          <a:prstGeom prst="rect">
            <a:avLst/>
          </a:prstGeom>
        </p:spPr>
      </p:pic>
      <p:sp>
        <p:nvSpPr>
          <p:cNvPr id="26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canvas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695AD7-83B1-479E-9B9B-7FE30BB99E06}"/>
              </a:ext>
            </a:extLst>
          </p:cNvPr>
          <p:cNvSpPr/>
          <p:nvPr/>
        </p:nvSpPr>
        <p:spPr>
          <a:xfrm>
            <a:off x="755576" y="696626"/>
            <a:ext cx="30243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什么是</a:t>
            </a:r>
            <a:r>
              <a:rPr lang="en-US" altLang="zh-CN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canvas</a:t>
            </a:r>
            <a:endParaRPr lang="zh-CN" altLang="en-US" sz="2800" b="0" cap="none" spc="0" dirty="0">
              <a:ln w="0"/>
              <a:solidFill>
                <a:srgbClr val="00B0F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0E7F623-1551-4F57-91F6-B81EF7E73A1A}"/>
              </a:ext>
            </a:extLst>
          </p:cNvPr>
          <p:cNvSpPr txBox="1"/>
          <p:nvPr/>
        </p:nvSpPr>
        <p:spPr>
          <a:xfrm>
            <a:off x="1402268" y="1330759"/>
            <a:ext cx="6339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000000"/>
                </a:solidFill>
                <a:effectLst/>
                <a:latin typeface="PingFangSC-Regular"/>
              </a:rPr>
              <a:t>HTML5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SC-Regular"/>
              </a:rPr>
              <a:t>的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SC-Regular"/>
              </a:rPr>
              <a:t>canvas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SC-Regular"/>
              </a:rPr>
              <a:t>元素使用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PingFangSC-Regular"/>
              </a:rPr>
              <a:t>JavaScript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SC-Regular"/>
              </a:rPr>
              <a:t>在网页上绘制图像。</a:t>
            </a:r>
          </a:p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PingFangSC-Regular"/>
              </a:rPr>
              <a:t>画布是一个矩形区域，您可以控制其每一像素。</a:t>
            </a:r>
          </a:p>
          <a:p>
            <a:pPr algn="l"/>
            <a:r>
              <a:rPr lang="en-US" altLang="zh-CN" b="0" i="0" dirty="0">
                <a:solidFill>
                  <a:srgbClr val="000000"/>
                </a:solidFill>
                <a:effectLst/>
                <a:latin typeface="PingFangSC-Regular"/>
              </a:rPr>
              <a:t>canvas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SC-Regular"/>
              </a:rPr>
              <a:t>拥有多种绘制路径、矩形、圆形、字符以及添加图像的方法。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578DF55-3885-43C8-9C71-2AEFA64BF151}"/>
              </a:ext>
            </a:extLst>
          </p:cNvPr>
          <p:cNvSpPr txBox="1"/>
          <p:nvPr/>
        </p:nvSpPr>
        <p:spPr>
          <a:xfrm>
            <a:off x="1414844" y="2978561"/>
            <a:ext cx="6339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&lt;canvas id="myCanvas" width="200" height="100"&gt;&lt;/canvas&gt;</a:t>
            </a:r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C3DD579-A1A0-4176-A1E6-E2E76F4B6038}"/>
              </a:ext>
            </a:extLst>
          </p:cNvPr>
          <p:cNvSpPr/>
          <p:nvPr/>
        </p:nvSpPr>
        <p:spPr>
          <a:xfrm>
            <a:off x="611560" y="2480578"/>
            <a:ext cx="30243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创建</a:t>
            </a:r>
            <a:r>
              <a:rPr lang="en-US" altLang="zh-CN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canvas</a:t>
            </a:r>
            <a:endParaRPr lang="zh-CN" altLang="en-US" sz="2800" b="0" cap="none" spc="0" dirty="0">
              <a:ln w="0"/>
              <a:solidFill>
                <a:srgbClr val="00B0F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F09973-7CE7-46DE-8BCC-2806EB574140}"/>
              </a:ext>
            </a:extLst>
          </p:cNvPr>
          <p:cNvSpPr/>
          <p:nvPr/>
        </p:nvSpPr>
        <p:spPr>
          <a:xfrm>
            <a:off x="1187624" y="3343263"/>
            <a:ext cx="30243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Canvas</a:t>
            </a:r>
            <a:r>
              <a:rPr lang="zh-CN" altLang="en-US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可以做什么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5101E5A-70DB-48DF-948C-B752FF3D75F5}"/>
              </a:ext>
            </a:extLst>
          </p:cNvPr>
          <p:cNvSpPr txBox="1"/>
          <p:nvPr/>
        </p:nvSpPr>
        <p:spPr>
          <a:xfrm>
            <a:off x="1402268" y="3930610"/>
            <a:ext cx="6339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统计图、时钟、游戏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3353549-9CCF-46BA-B172-6459403E35FF}"/>
              </a:ext>
            </a:extLst>
          </p:cNvPr>
          <p:cNvSpPr txBox="1"/>
          <p:nvPr/>
        </p:nvSpPr>
        <p:spPr>
          <a:xfrm>
            <a:off x="2971066" y="4632822"/>
            <a:ext cx="650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成品参考地址链接</a:t>
            </a:r>
            <a:r>
              <a:rPr lang="en-US" altLang="zh-CN" dirty="0">
                <a:hlinkClick r:id="rId5"/>
              </a:rPr>
              <a:t>https://github.com/bxm0927/canvas-special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68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" grpId="0"/>
      <p:bldP spid="29" grpId="0"/>
      <p:bldP spid="32" grpId="0"/>
      <p:bldP spid="34" grpId="0"/>
      <p:bldP spid="36" grpId="0"/>
      <p:bldP spid="38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66">
            <a:extLst>
              <a:ext uri="{FF2B5EF4-FFF2-40B4-BE49-F238E27FC236}">
                <a16:creationId xmlns:a16="http://schemas.microsoft.com/office/drawing/2014/main" id="{C18C6EB7-A3B1-495E-A61E-2E8420C3DE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4580479" y="36322"/>
            <a:ext cx="6855716" cy="5996349"/>
          </a:xfrm>
          <a:prstGeom prst="rect">
            <a:avLst/>
          </a:prstGeom>
        </p:spPr>
      </p:pic>
      <p:sp>
        <p:nvSpPr>
          <p:cNvPr id="66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Svg</a:t>
            </a:r>
            <a:endParaRPr lang="zh-CN" altLang="en-US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2DB5B94B-1B01-44C0-A026-C554DDDEFD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187267" y="-2196181"/>
            <a:ext cx="6855716" cy="599634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47F7CBB-FF6D-4910-A632-FE74E51274C4}"/>
              </a:ext>
            </a:extLst>
          </p:cNvPr>
          <p:cNvSpPr/>
          <p:nvPr/>
        </p:nvSpPr>
        <p:spPr>
          <a:xfrm>
            <a:off x="755576" y="696626"/>
            <a:ext cx="30243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什么是</a:t>
            </a:r>
            <a:r>
              <a:rPr lang="en-US" altLang="zh-CN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Svg</a:t>
            </a:r>
            <a:endParaRPr lang="zh-CN" altLang="en-US" sz="2800" b="0" cap="none" spc="0" dirty="0">
              <a:ln w="0"/>
              <a:solidFill>
                <a:srgbClr val="00B0F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03826A9-2F3E-47DB-B66B-204BE6D58FE9}"/>
              </a:ext>
            </a:extLst>
          </p:cNvPr>
          <p:cNvSpPr txBox="1"/>
          <p:nvPr/>
        </p:nvSpPr>
        <p:spPr>
          <a:xfrm>
            <a:off x="1402268" y="1330759"/>
            <a:ext cx="6339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SVG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意为可缩放矢量图形（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Scalable Vector Graphics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）。</a:t>
            </a:r>
          </a:p>
          <a:p>
            <a:pPr algn="l" latinLnBrk="1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SVG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使用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XML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格式定义图像。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5BDF146-42B6-4772-804C-6C7673153B7B}"/>
              </a:ext>
            </a:extLst>
          </p:cNvPr>
          <p:cNvSpPr/>
          <p:nvPr/>
        </p:nvSpPr>
        <p:spPr>
          <a:xfrm>
            <a:off x="611560" y="2139702"/>
            <a:ext cx="30243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Svg</a:t>
            </a:r>
            <a:r>
              <a:rPr lang="zh-CN" altLang="en-US" sz="2800" b="0" cap="none" spc="0" dirty="0">
                <a:ln w="0"/>
                <a:solidFill>
                  <a:srgbClr val="00B0F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实例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822F6BA-9152-49C4-B880-8E5F9D2F6E3B}"/>
              </a:ext>
            </a:extLst>
          </p:cNvPr>
          <p:cNvSpPr txBox="1"/>
          <p:nvPr/>
        </p:nvSpPr>
        <p:spPr>
          <a:xfrm>
            <a:off x="1385181" y="2811581"/>
            <a:ext cx="58511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&lt;svg xmlns="http://www.w3.org/2000/svg" version="1.1"&gt;</a:t>
            </a:r>
          </a:p>
          <a:p>
            <a:r>
              <a:rPr lang="en-US" altLang="zh-CN" dirty="0"/>
              <a:t>  &lt;circle cx="100" cy="50" r="40" stroke="black"</a:t>
            </a:r>
          </a:p>
          <a:p>
            <a:r>
              <a:rPr lang="en-US" altLang="zh-CN" dirty="0"/>
              <a:t>  stroke-width="2" fill="red" /&gt;</a:t>
            </a:r>
          </a:p>
          <a:p>
            <a:r>
              <a:rPr lang="en-US" altLang="zh-CN" dirty="0"/>
              <a:t>&lt;/svg&gt;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807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3" grpId="0"/>
      <p:bldP spid="72" grpId="0"/>
      <p:bldP spid="80" grpId="0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2F752640-3D2B-475D-B324-3B7EF7322E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5270267" y="-1506546"/>
            <a:ext cx="6855716" cy="599634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05C505D4-2788-4AE3-AE4A-1F560C3EAA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2294788" y="50967"/>
            <a:ext cx="6855716" cy="599634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99D343B-28F9-4334-9614-2D59C740A2A0}"/>
              </a:ext>
            </a:extLst>
          </p:cNvPr>
          <p:cNvSpPr/>
          <p:nvPr/>
        </p:nvSpPr>
        <p:spPr>
          <a:xfrm>
            <a:off x="4093793" y="1092512"/>
            <a:ext cx="26744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0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8000" spc="300" dirty="0">
              <a:solidFill>
                <a:schemeClr val="tx1">
                  <a:lumMod val="65000"/>
                  <a:lumOff val="35000"/>
                </a:schemeClr>
              </a:solidFill>
              <a:latin typeface="Agency FB" panose="020B0503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5E08B56C-C06E-40F0-846F-33E7EAE24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398698"/>
            <a:ext cx="669674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Less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Scss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Sass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stylus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909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45DD93B0-2C55-451C-92E0-1C06A0DBC7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187267" y="-2196180"/>
            <a:ext cx="6855716" cy="59963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7AA606E-55BA-4291-A73C-EA8DA20FBA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4580480" y="36323"/>
            <a:ext cx="6855716" cy="5996349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857880" y="200199"/>
            <a:ext cx="2922032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ctr">
              <a:defRPr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Less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Scss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Sass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stylus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9A8A57-BA2E-4BC3-8189-18D069B0F5C2}"/>
              </a:ext>
            </a:extLst>
          </p:cNvPr>
          <p:cNvSpPr txBox="1"/>
          <p:nvPr/>
        </p:nvSpPr>
        <p:spPr>
          <a:xfrm>
            <a:off x="1438272" y="1635646"/>
            <a:ext cx="6267456" cy="106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他们都是</a:t>
            </a:r>
            <a:r>
              <a:rPr lang="en-US" altLang="zh-CN" b="1" dirty="0"/>
              <a:t>CSS </a:t>
            </a:r>
            <a:r>
              <a:rPr lang="zh-CN" altLang="en-US" b="1" dirty="0"/>
              <a:t>预处理语言，它扩充了 </a:t>
            </a:r>
            <a:r>
              <a:rPr lang="en-US" altLang="zh-CN" b="1" dirty="0"/>
              <a:t>CSS </a:t>
            </a:r>
            <a:r>
              <a:rPr lang="zh-CN" altLang="en-US" b="1" dirty="0"/>
              <a:t>语言，增加了诸如变量、混合（</a:t>
            </a:r>
            <a:r>
              <a:rPr lang="en-US" altLang="zh-CN" b="1" dirty="0"/>
              <a:t>mixin</a:t>
            </a:r>
            <a:r>
              <a:rPr lang="zh-CN" altLang="en-US" b="1" dirty="0"/>
              <a:t>）、函数等功能，让 </a:t>
            </a:r>
            <a:r>
              <a:rPr lang="en-US" altLang="zh-CN" b="1" dirty="0"/>
              <a:t>CSS </a:t>
            </a:r>
            <a:r>
              <a:rPr lang="zh-CN" altLang="en-US" b="1" dirty="0"/>
              <a:t>更易维护、方便制作主题、扩充。</a:t>
            </a:r>
            <a:r>
              <a:rPr lang="en-US" altLang="zh-CN" b="1" dirty="0"/>
              <a:t>Less </a:t>
            </a:r>
            <a:r>
              <a:rPr lang="zh-CN" altLang="en-US" b="1" dirty="0"/>
              <a:t>可以运行在 </a:t>
            </a:r>
            <a:r>
              <a:rPr lang="en-US" altLang="zh-CN" b="1" dirty="0"/>
              <a:t>Node </a:t>
            </a:r>
            <a:r>
              <a:rPr lang="zh-CN" altLang="en-US" b="1" dirty="0"/>
              <a:t>或浏览器端。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493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92CC01-9CAE-4EC2-892E-42E31F033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903" y="771550"/>
            <a:ext cx="6139709" cy="4264527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F7D6C840-C892-4000-8CA3-0903A7C01B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4580482" y="36325"/>
            <a:ext cx="6855716" cy="5996349"/>
          </a:xfrm>
          <a:prstGeom prst="rect">
            <a:avLst/>
          </a:pr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857880" y="200199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6B1521E0-0E2B-451C-80EA-2DE27F9B89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187267" y="-2196181"/>
            <a:ext cx="6855716" cy="599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8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>
            <a:extLst>
              <a:ext uri="{FF2B5EF4-FFF2-40B4-BE49-F238E27FC236}">
                <a16:creationId xmlns:a16="http://schemas.microsoft.com/office/drawing/2014/main" id="{0702E191-CD6D-4742-9078-BC771FF2C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97" y="818994"/>
            <a:ext cx="3158261" cy="3471232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DEA14AAB-D06C-4599-B369-B84A12531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936" y="172040"/>
            <a:ext cx="3073422" cy="2787314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C21D9AFE-783D-4775-B2D2-C51759B38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4023" y="3495393"/>
            <a:ext cx="2624106" cy="1452621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52FEFD0F-7CC0-44BB-B4EB-68B74EDE1C24}"/>
              </a:ext>
            </a:extLst>
          </p:cNvPr>
          <p:cNvSpPr txBox="1"/>
          <p:nvPr/>
        </p:nvSpPr>
        <p:spPr>
          <a:xfrm>
            <a:off x="7878781" y="1702774"/>
            <a:ext cx="117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混合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9180350-2C29-4843-AB5D-22FA1DEE1F96}"/>
              </a:ext>
            </a:extLst>
          </p:cNvPr>
          <p:cNvSpPr txBox="1"/>
          <p:nvPr/>
        </p:nvSpPr>
        <p:spPr>
          <a:xfrm>
            <a:off x="195370" y="1347614"/>
            <a:ext cx="381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28422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 txBox="1">
            <a:spLocks/>
          </p:cNvSpPr>
          <p:nvPr/>
        </p:nvSpPr>
        <p:spPr>
          <a:xfrm>
            <a:off x="857880" y="200199"/>
            <a:ext cx="313805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响应式布局和自适应布局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7BC9B012-CC9C-487D-AE21-B5A5B30743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4580479" y="36322"/>
            <a:ext cx="6855716" cy="5996349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00C48ECD-62B1-4AA6-AD85-A482C765EA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187267" y="-2196181"/>
            <a:ext cx="6855716" cy="5996349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25B00AB9-52B1-4975-A391-4369C7F0CFE8}"/>
              </a:ext>
            </a:extLst>
          </p:cNvPr>
          <p:cNvSpPr txBox="1"/>
          <p:nvPr/>
        </p:nvSpPr>
        <p:spPr>
          <a:xfrm>
            <a:off x="728251" y="913648"/>
            <a:ext cx="599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响应式布局等于流动网格布局</a:t>
            </a:r>
            <a:endParaRPr lang="en-US" altLang="zh-CN" dirty="0"/>
          </a:p>
          <a:p>
            <a:r>
              <a:rPr lang="zh-CN" altLang="en-US" dirty="0"/>
              <a:t>而自适应布局等于使用固定分割点来进行布局。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2D8495F-456A-4655-8FC5-A3EA4F4D8880}"/>
              </a:ext>
            </a:extLst>
          </p:cNvPr>
          <p:cNvSpPr txBox="1"/>
          <p:nvPr/>
        </p:nvSpPr>
        <p:spPr>
          <a:xfrm>
            <a:off x="728251" y="1995686"/>
            <a:ext cx="5040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自适应的体验   </a:t>
            </a:r>
            <a:r>
              <a:rPr lang="en-US" altLang="zh-CN" b="1" i="0" u="sng" dirty="0">
                <a:solidFill>
                  <a:srgbClr val="333333"/>
                </a:solidFill>
                <a:effectLst/>
                <a:latin typeface="PingFang SC"/>
              </a:rPr>
              <a:t>http://m.ctrip.com/html5/</a:t>
            </a:r>
            <a:br>
              <a:rPr lang="zh-CN" altLang="en-US" dirty="0"/>
            </a:br>
            <a:r>
              <a:rPr lang="zh-CN" altLang="en-US" b="1" i="0" dirty="0">
                <a:solidFill>
                  <a:srgbClr val="333333"/>
                </a:solidFill>
                <a:effectLst/>
                <a:latin typeface="PingFang SC"/>
              </a:rPr>
              <a:t>响应式的体验   </a:t>
            </a:r>
            <a:r>
              <a:rPr lang="en-US" altLang="zh-CN" b="1" i="0" u="sng" dirty="0">
                <a:solidFill>
                  <a:srgbClr val="333333"/>
                </a:solidFill>
                <a:effectLst/>
                <a:latin typeface="PingFang SC"/>
              </a:rPr>
              <a:t>http://segmentfault.com/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 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4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E8FA05-00CA-4E8A-A206-FDBBDE1B66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0187">
            <a:off x="-2294788" y="50967"/>
            <a:ext cx="6855716" cy="59963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7E2528-3EDD-498D-A5CF-BF7B945E85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5270267" y="-1506546"/>
            <a:ext cx="6855716" cy="59963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3954C6-5AA5-453E-B541-2BCED1831675}"/>
              </a:ext>
            </a:extLst>
          </p:cNvPr>
          <p:cNvSpPr/>
          <p:nvPr/>
        </p:nvSpPr>
        <p:spPr>
          <a:xfrm>
            <a:off x="2987824" y="1131590"/>
            <a:ext cx="37158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80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2020</a:t>
            </a:r>
            <a:endParaRPr lang="zh-CN" altLang="en-US" sz="8000" spc="300" dirty="0">
              <a:solidFill>
                <a:schemeClr val="tx1">
                  <a:lumMod val="65000"/>
                  <a:lumOff val="35000"/>
                </a:schemeClr>
              </a:solidFill>
              <a:latin typeface="Agency FB" panose="020B0503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09E00A4F-9D85-4634-933E-717B0E82D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410" y="2196097"/>
            <a:ext cx="504180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演示完毕 谢谢欣赏</a:t>
            </a:r>
          </a:p>
        </p:txBody>
      </p:sp>
    </p:spTree>
    <p:extLst>
      <p:ext uri="{BB962C8B-B14F-4D97-AF65-F5344CB8AC3E}">
        <p14:creationId xmlns:p14="http://schemas.microsoft.com/office/powerpoint/2010/main" val="88496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00"/>
                            </p:stCondLst>
                            <p:childTnLst>
                              <p:par>
                                <p:cTn id="23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9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约风格工作总结汇报PPT模板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548BB7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548BB7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ppt/theme/themeOverride1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548BB7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548BB7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2611</TotalTime>
  <Words>379</Words>
  <Application>Microsoft Office PowerPoint</Application>
  <PresentationFormat>全屏显示(16:9)</PresentationFormat>
  <Paragraphs>71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Helvetica Neue</vt:lpstr>
      <vt:lpstr>PingFang SC</vt:lpstr>
      <vt:lpstr>PingFangSC-Regular</vt:lpstr>
      <vt:lpstr>华文细黑</vt:lpstr>
      <vt:lpstr>微软雅黑</vt:lpstr>
      <vt:lpstr>Agency FB</vt:lpstr>
      <vt:lpstr>Arial</vt:lpstr>
      <vt:lpstr>Calibri</vt:lpstr>
      <vt:lpstr>Impact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优品PPT</dc:creator>
  <cp:keywords/>
  <dc:description>http://www.ypppt.com/</dc:description>
  <cp:lastModifiedBy>崔 子杰</cp:lastModifiedBy>
  <cp:revision>26</cp:revision>
  <dcterms:created xsi:type="dcterms:W3CDTF">2015-12-11T17:46:17Z</dcterms:created>
  <dcterms:modified xsi:type="dcterms:W3CDTF">2020-10-07T05:40:51Z</dcterms:modified>
  <cp:category/>
</cp:coreProperties>
</file>